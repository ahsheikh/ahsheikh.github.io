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78" r:id="rId9"/>
    <p:sldId id="265" r:id="rId10"/>
    <p:sldId id="266" r:id="rId11"/>
    <p:sldId id="272" r:id="rId12"/>
    <p:sldId id="282" r:id="rId13"/>
    <p:sldId id="283" r:id="rId14"/>
    <p:sldId id="284" r:id="rId15"/>
    <p:sldId id="267" r:id="rId16"/>
    <p:sldId id="268" r:id="rId17"/>
    <p:sldId id="269" r:id="rId18"/>
    <p:sldId id="273" r:id="rId19"/>
    <p:sldId id="274" r:id="rId20"/>
    <p:sldId id="276" r:id="rId21"/>
    <p:sldId id="277" r:id="rId22"/>
    <p:sldId id="270" r:id="rId23"/>
    <p:sldId id="285" r:id="rId24"/>
    <p:sldId id="286" r:id="rId25"/>
    <p:sldId id="287" r:id="rId26"/>
    <p:sldId id="288" r:id="rId27"/>
    <p:sldId id="279" r:id="rId28"/>
    <p:sldId id="280" r:id="rId29"/>
    <p:sldId id="281" r:id="rId30"/>
  </p:sldIdLst>
  <p:sldSz cx="9144000" cy="6858000" type="screen4x3"/>
  <p:notesSz cx="9874250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4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2027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5CAEC4-2688-4F7D-8668-D709795E328E}" type="datetimeFigureOut">
              <a:rPr lang="en-US" smtClean="0"/>
              <a:t>1/15/2025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2027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6021F-1E66-45B5-A4AE-B1769E0287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0096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313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92763" y="0"/>
            <a:ext cx="4279900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50C500-55BD-403D-807A-A44A45C4FFC1}" type="datetimeFigureOut">
              <a:rPr lang="en-US" smtClean="0"/>
              <a:t>1/15/2025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36913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425" y="3228975"/>
            <a:ext cx="7899400" cy="30591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363"/>
            <a:ext cx="4278313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92763" y="6456363"/>
            <a:ext cx="4279900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254F2-9E32-4CAD-9AF0-53BB9F4603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7863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254F2-9E32-4CAD-9AF0-53BB9F46039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923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254F2-9E32-4CAD-9AF0-53BB9F46039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539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E6E0-1F0B-41FA-8E38-8E3F441DC8F8}" type="datetime1">
              <a:rPr lang="en-US" smtClean="0"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64B97-079D-4BF2-9948-5AF37A708326}" type="datetime1">
              <a:rPr lang="en-US" smtClean="0"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82B36-4480-42FC-9ED4-B8E7E3DEBBA3}" type="datetime1">
              <a:rPr lang="en-US" smtClean="0"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DAA4-BA9E-46A2-98F1-29E9652ACDD8}" type="datetime1">
              <a:rPr lang="en-US" smtClean="0"/>
              <a:t>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E0102-6138-49BD-A8A9-1669C9E35408}" type="datetime1">
              <a:rPr lang="en-US" smtClean="0"/>
              <a:t>1/15/2025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3B9DF-7824-4E25-98AE-02754F0A201E}" type="datetime1">
              <a:rPr lang="en-US" smtClean="0"/>
              <a:t>1/15/2025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6CAB-04ED-4F80-857D-11BF185FE2AB}" type="datetime1">
              <a:rPr lang="en-US" smtClean="0"/>
              <a:t>1/15/2025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D664-7469-4EB2-8A2E-935A034EE279}" type="datetime1">
              <a:rPr lang="en-US" smtClean="0"/>
              <a:t>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A1E93-0CF8-4D9C-A6BD-6D201C274CC8}" type="datetime1">
              <a:rPr lang="en-US" smtClean="0"/>
              <a:t>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0A34B-86AE-4C0D-B941-620F41504608}" type="datetime1">
              <a:rPr lang="en-US" smtClean="0"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63365-F800-442F-99E9-906A5E819222}" type="datetime1">
              <a:rPr lang="en-US" smtClean="0"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6267DDCB-BC7B-4A8A-BA17-8BE7F787077D}" type="datetime1">
              <a:rPr lang="en-US" smtClean="0"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cap="none" dirty="0"/>
              <a:t/>
            </a:r>
            <a:br>
              <a:rPr lang="en-US" cap="none" dirty="0"/>
            </a:br>
            <a:r>
              <a:rPr lang="en-US" sz="3200" cap="none" dirty="0" smtClean="0">
                <a:solidFill>
                  <a:srgbClr val="C00000"/>
                </a:solidFill>
              </a:rPr>
              <a:t>Discrete </a:t>
            </a:r>
            <a:r>
              <a:rPr lang="en-US" sz="3200" cap="none" dirty="0" smtClean="0">
                <a:solidFill>
                  <a:srgbClr val="C00000"/>
                </a:solidFill>
              </a:rPr>
              <a:t>Structures </a:t>
            </a:r>
            <a:r>
              <a:rPr lang="en-US" sz="3200" cap="none" dirty="0">
                <a:solidFill>
                  <a:srgbClr val="C00000"/>
                </a:solidFill>
              </a:rPr>
              <a:t/>
            </a:r>
            <a:br>
              <a:rPr lang="en-US" sz="3200" cap="none" dirty="0">
                <a:solidFill>
                  <a:srgbClr val="C00000"/>
                </a:solidFill>
              </a:rPr>
            </a:br>
            <a:r>
              <a:rPr lang="en-US" sz="3200" cap="none" dirty="0">
                <a:solidFill>
                  <a:srgbClr val="C00000"/>
                </a:solidFill>
              </a:rPr>
              <a:t>(Discrete Mathematics)</a:t>
            </a:r>
            <a:br>
              <a:rPr lang="en-US" sz="3200" cap="none" dirty="0">
                <a:solidFill>
                  <a:srgbClr val="C00000"/>
                </a:solidFill>
              </a:rPr>
            </a:br>
            <a:r>
              <a:rPr lang="en-US" sz="3200" cap="none" dirty="0" smtClean="0">
                <a:solidFill>
                  <a:srgbClr val="C00000"/>
                </a:solidFill>
              </a:rPr>
              <a:t>Spring 2024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7848600" cy="2362200"/>
          </a:xfrm>
        </p:spPr>
        <p:txBody>
          <a:bodyPr>
            <a:normAutofit/>
          </a:bodyPr>
          <a:lstStyle/>
          <a:p>
            <a:pPr algn="ctr" fontAlgn="base">
              <a:spcAft>
                <a:spcPct val="0"/>
              </a:spcAft>
            </a:pPr>
            <a:endParaRPr lang="en-US" sz="1900" dirty="0">
              <a:solidFill>
                <a:schemeClr val="tx1"/>
              </a:solidFill>
            </a:endParaRPr>
          </a:p>
          <a:p>
            <a:pPr algn="ctr" fontAlgn="base">
              <a:spcAft>
                <a:spcPct val="0"/>
              </a:spcAft>
            </a:pPr>
            <a:r>
              <a:rPr lang="en-US" sz="1900">
                <a:solidFill>
                  <a:schemeClr val="tx1"/>
                </a:solidFill>
              </a:rPr>
              <a:t>Lecture </a:t>
            </a:r>
            <a:r>
              <a:rPr lang="en-US" sz="1900" smtClean="0">
                <a:solidFill>
                  <a:schemeClr val="tx1"/>
                </a:solidFill>
              </a:rPr>
              <a:t>– </a:t>
            </a:r>
            <a:r>
              <a:rPr lang="en-US" sz="1900" smtClean="0">
                <a:solidFill>
                  <a:schemeClr val="tx1"/>
                </a:solidFill>
              </a:rPr>
              <a:t>2 (of)</a:t>
            </a:r>
            <a:r>
              <a:rPr lang="en-US" sz="1900" dirty="0">
                <a:solidFill>
                  <a:schemeClr val="tx1"/>
                </a:solidFill>
              </a:rPr>
              <a:t/>
            </a:r>
            <a:br>
              <a:rPr lang="en-US" sz="1900" dirty="0">
                <a:solidFill>
                  <a:schemeClr val="tx1"/>
                </a:solidFill>
              </a:rPr>
            </a:br>
            <a:r>
              <a:rPr lang="en-US" sz="3200" dirty="0" smtClean="0">
                <a:solidFill>
                  <a:schemeClr val="tx1"/>
                </a:solidFill>
              </a:rPr>
              <a:t>Graphs </a:t>
            </a:r>
          </a:p>
          <a:p>
            <a:pPr algn="ctr" fontAlgn="base">
              <a:spcAft>
                <a:spcPct val="0"/>
              </a:spcAft>
            </a:pPr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728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Special Graph Structures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182880" lvl="1"/>
                <a:r>
                  <a:rPr lang="en-US" sz="2400" dirty="0" smtClean="0"/>
                  <a:t>Special cases of undirected graph structures:</a:t>
                </a:r>
              </a:p>
              <a:p>
                <a:pPr lvl="1"/>
                <a:r>
                  <a:rPr lang="en-US" dirty="0" smtClean="0"/>
                  <a:t>Complete graphs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Cycles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Wheels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Bipartite graphs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8880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Complete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For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𝑁</m:t>
                    </m:r>
                  </m:oMath>
                </a14:m>
                <a:r>
                  <a:rPr lang="en-US" dirty="0" smtClean="0"/>
                  <a:t>, a complete graph on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 vertices, denoted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 smtClean="0"/>
                  <a:t>, is a simple graph with </a:t>
                </a:r>
                <a:r>
                  <a:rPr lang="en-US" i="1" dirty="0" smtClean="0"/>
                  <a:t>n </a:t>
                </a:r>
                <a:r>
                  <a:rPr lang="en-US" dirty="0" smtClean="0"/>
                  <a:t>nodes in which every node is adjacent to every other node.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/>
                            <a:ea typeface="Cambria Math"/>
                          </a:rPr>
                          <m:t>∀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𝑢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𝑉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:</m:t>
                    </m:r>
                    <m:r>
                      <a:rPr lang="en-US" b="0" i="1" smtClean="0">
                        <a:latin typeface="Cambria Math"/>
                      </a:rPr>
                      <m:t>𝑢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𝑣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↔{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𝑢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𝑣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}∈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𝐸</m:t>
                    </m:r>
                  </m:oMath>
                </a14:m>
                <a:r>
                  <a:rPr lang="en-US" i="1" dirty="0" smtClean="0"/>
                  <a:t>.</a:t>
                </a:r>
              </a:p>
              <a:p>
                <a:endParaRPr lang="en-US" i="1" dirty="0"/>
              </a:p>
              <a:p>
                <a:endParaRPr lang="en-US" i="1" dirty="0" smtClean="0"/>
              </a:p>
              <a:p>
                <a:endParaRPr lang="en-US" i="1" dirty="0"/>
              </a:p>
              <a:p>
                <a:endParaRPr lang="en-US" i="1" dirty="0" smtClean="0"/>
              </a:p>
              <a:p>
                <a:endParaRPr lang="en-US" i="1" dirty="0"/>
              </a:p>
              <a:p>
                <a:r>
                  <a:rPr lang="en-US" dirty="0" smtClean="0"/>
                  <a:t>A simple graph for which there is at least one pair of distinct vertex not connect with edge is called non complete.</a:t>
                </a:r>
              </a:p>
              <a:p>
                <a:r>
                  <a:rPr lang="en-US" dirty="0" smtClean="0"/>
                  <a:t>Note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 smtClean="0"/>
                  <a:t>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n</m:t>
                    </m:r>
                    <m:r>
                      <a:rPr lang="en-US" b="0" i="0" smtClean="0"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n</m:t>
                    </m:r>
                    <m:r>
                      <a:rPr lang="en-US" b="0" i="1" smtClean="0">
                        <a:latin typeface="Cambria Math"/>
                      </a:rPr>
                      <m:t>−1)/2</m:t>
                    </m:r>
                  </m:oMath>
                </a14:m>
                <a:r>
                  <a:rPr lang="en-US" dirty="0" smtClean="0"/>
                  <a:t> edges.</a:t>
                </a:r>
                <a:endParaRPr lang="en-US" dirty="0"/>
              </a:p>
              <a:p>
                <a:endParaRPr lang="en-US" i="1" dirty="0" smtClean="0"/>
              </a:p>
              <a:p>
                <a:endParaRPr lang="en-US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1625" r="-1481" b="-1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5" y="2743200"/>
            <a:ext cx="7562850" cy="169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7465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Cycles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For any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3</m:t>
                    </m:r>
                  </m:oMath>
                </a14:m>
                <a:r>
                  <a:rPr lang="en-US" dirty="0" smtClean="0"/>
                  <a:t>, a cycle </a:t>
                </a:r>
                <a:r>
                  <a:rPr lang="en-US" dirty="0"/>
                  <a:t>on </a:t>
                </a:r>
                <a:r>
                  <a:rPr lang="en-US" i="1" dirty="0"/>
                  <a:t>n</a:t>
                </a:r>
                <a:r>
                  <a:rPr lang="en-US" dirty="0"/>
                  <a:t> vertices, denoted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, is a simple graph </a:t>
                </a:r>
                <a:r>
                  <a:rPr lang="en-US" dirty="0" smtClean="0"/>
                  <a:t>where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𝑎𝑛𝑑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𝐸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={{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},{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},…,{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  <m:r>
                          <a:rPr lang="en-US" b="0" i="1" smtClean="0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},{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}}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How many edges are there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 smtClean="0"/>
                  <a:t>?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593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" y="3057525"/>
            <a:ext cx="7486650" cy="18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80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Wheels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For any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≥3</m:t>
                    </m:r>
                  </m:oMath>
                </a14:m>
                <a:r>
                  <a:rPr lang="en-US" dirty="0"/>
                  <a:t>, a </a:t>
                </a:r>
                <a:r>
                  <a:rPr lang="en-US" dirty="0" smtClean="0"/>
                  <a:t>wheel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, is a simple graph </a:t>
                </a:r>
                <a:r>
                  <a:rPr lang="en-US" dirty="0" smtClean="0"/>
                  <a:t>obtained by taking the cycle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 smtClean="0"/>
                  <a:t> and adding an extra vertex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h𝑢𝑏</m:t>
                        </m:r>
                      </m:sub>
                    </m:sSub>
                  </m:oMath>
                </a14:m>
                <a:r>
                  <a:rPr lang="en-US" dirty="0" smtClean="0"/>
                  <a:t> and n extra edges </a:t>
                </a:r>
                <a:r>
                  <a:rPr lang="en-US" dirty="0"/>
                  <a:t>where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{{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h𝑢𝑏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},{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h𝑢𝑏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},…,{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h𝑢𝑏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}}</m:t>
                    </m:r>
                  </m:oMath>
                </a14:m>
                <a:r>
                  <a:rPr lang="en-US" i="1" dirty="0"/>
                  <a:t>.</a:t>
                </a:r>
                <a:endParaRPr lang="en-US" i="1" dirty="0" smtClean="0"/>
              </a:p>
              <a:p>
                <a:endParaRPr lang="en-US" i="1" dirty="0"/>
              </a:p>
              <a:p>
                <a:endParaRPr lang="en-US" i="1" dirty="0" smtClean="0"/>
              </a:p>
              <a:p>
                <a:endParaRPr lang="en-US" i="1" dirty="0"/>
              </a:p>
              <a:p>
                <a:endParaRPr lang="en-US" i="1" dirty="0" smtClean="0"/>
              </a:p>
              <a:p>
                <a:endParaRPr lang="en-US" i="1" dirty="0"/>
              </a:p>
              <a:p>
                <a:endParaRPr lang="en-US" i="1" dirty="0" smtClean="0"/>
              </a:p>
              <a:p>
                <a:r>
                  <a:rPr lang="en-US" dirty="0"/>
                  <a:t>How many edges are there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  <a:r>
                  <a:rPr lang="en-US" dirty="0" smtClean="0"/>
                  <a:t> 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875" r="-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3067050"/>
            <a:ext cx="7839075" cy="188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5072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Bipartite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A graph G = {V, E} is bipartite graph (two parts) if and only if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𝑈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 </m:t>
                    </m:r>
                    <m:r>
                      <a:rPr lang="en-US" b="0" i="1" dirty="0" smtClean="0">
                        <a:latin typeface="Cambria Math"/>
                      </a:rPr>
                      <m:t>𝑤h𝑒𝑟𝑒</m:t>
                    </m:r>
                    <m:r>
                      <a:rPr lang="en-US" b="0" i="1" dirty="0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/>
                        <a:ea typeface="Cambria Math"/>
                      </a:rPr>
                      <m:t>∩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/>
                        <a:ea typeface="Cambria Math"/>
                      </a:rPr>
                      <m:t>=∅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/>
                            <a:ea typeface="Cambria Math"/>
                          </a:rPr>
                          <m:t>∀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𝑒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𝐸</m:t>
                        </m:r>
                      </m:sub>
                    </m:sSub>
                    <m:r>
                      <a:rPr lang="en-US" b="0" i="1" smtClean="0">
                        <a:latin typeface="Cambria Math"/>
                        <a:ea typeface="Cambria Math"/>
                      </a:rPr>
                      <m:t>: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/>
                            <a:ea typeface="Cambria Math"/>
                          </a:rPr>
                          <m:t>∃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/>
                        <a:ea typeface="Cambria Math"/>
                      </a:rPr>
                      <m:t>∈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  <a:ea typeface="Cambria Math"/>
                      </a:rPr>
                      <m:t>∈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:</m:t>
                    </m:r>
                    <m:r>
                      <a:rPr lang="en-US" b="0" i="1" dirty="0" smtClean="0">
                        <a:latin typeface="Cambria Math"/>
                      </a:rPr>
                      <m:t>𝑒</m:t>
                    </m:r>
                    <m:r>
                      <a:rPr lang="en-US" b="0" i="1" dirty="0" smtClean="0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endParaRPr lang="en-US" dirty="0" smtClean="0"/>
              </a:p>
              <a:p>
                <a:r>
                  <a:rPr lang="en-US"/>
                  <a:t>The </a:t>
                </a:r>
                <a:r>
                  <a:rPr lang="en-US" smtClean="0"/>
                  <a:t>graph vertices </a:t>
                </a:r>
                <a:r>
                  <a:rPr lang="en-US" dirty="0"/>
                  <a:t>can be divided into two parts in such a way that all edges go between the two parts. (No edge in G connects either two vertices in V1 or two vertices in V2).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875" r="-1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990975"/>
            <a:ext cx="2333625" cy="256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3980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362200"/>
            <a:ext cx="55626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3886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simple graph is bipartite if and only if it is possible to assign one of two different colors </a:t>
            </a:r>
            <a:r>
              <a:rPr lang="en-US" dirty="0" smtClean="0"/>
              <a:t>to each </a:t>
            </a:r>
            <a:r>
              <a:rPr lang="en-US" dirty="0"/>
              <a:t>vertex of the graph so that no two adjacent vertices are assigned the same color.</a:t>
            </a:r>
          </a:p>
        </p:txBody>
      </p:sp>
    </p:spTree>
    <p:extLst>
      <p:ext uri="{BB962C8B-B14F-4D97-AF65-F5344CB8AC3E}">
        <p14:creationId xmlns:p14="http://schemas.microsoft.com/office/powerpoint/2010/main" val="3803274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281112" y="1985962"/>
            <a:ext cx="6110288" cy="3881438"/>
            <a:chOff x="1050925" y="1304925"/>
            <a:chExt cx="6110288" cy="3881438"/>
          </a:xfrm>
        </p:grpSpPr>
        <p:sp>
          <p:nvSpPr>
            <p:cNvPr id="5" name="Oval 4"/>
            <p:cNvSpPr/>
            <p:nvPr/>
          </p:nvSpPr>
          <p:spPr>
            <a:xfrm>
              <a:off x="1476375" y="2565400"/>
              <a:ext cx="287338" cy="28733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3419475" y="1844675"/>
              <a:ext cx="288925" cy="28892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1476375" y="3714750"/>
              <a:ext cx="287338" cy="28733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4932363" y="1844675"/>
              <a:ext cx="287337" cy="28892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6300788" y="2928938"/>
              <a:ext cx="287337" cy="287337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3132138" y="4297363"/>
              <a:ext cx="287337" cy="287337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5145088" y="4292600"/>
              <a:ext cx="287337" cy="28892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b="1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Connector 11"/>
            <p:cNvCxnSpPr>
              <a:stCxn id="5" idx="6"/>
              <a:endCxn id="6" idx="3"/>
            </p:cNvCxnSpPr>
            <p:nvPr/>
          </p:nvCxnSpPr>
          <p:spPr>
            <a:xfrm flipV="1">
              <a:off x="1763713" y="2090738"/>
              <a:ext cx="1698625" cy="6175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6" idx="6"/>
              <a:endCxn id="9" idx="3"/>
            </p:cNvCxnSpPr>
            <p:nvPr/>
          </p:nvCxnSpPr>
          <p:spPr>
            <a:xfrm>
              <a:off x="3708400" y="1989138"/>
              <a:ext cx="2633663" cy="11858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8" idx="5"/>
              <a:endCxn id="9" idx="2"/>
            </p:cNvCxnSpPr>
            <p:nvPr/>
          </p:nvCxnSpPr>
          <p:spPr>
            <a:xfrm>
              <a:off x="5178425" y="2090738"/>
              <a:ext cx="1122363" cy="9810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9" idx="3"/>
              <a:endCxn id="11" idx="6"/>
            </p:cNvCxnSpPr>
            <p:nvPr/>
          </p:nvCxnSpPr>
          <p:spPr>
            <a:xfrm flipH="1">
              <a:off x="5432425" y="3175000"/>
              <a:ext cx="909638" cy="12620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0" idx="5"/>
              <a:endCxn id="11" idx="3"/>
            </p:cNvCxnSpPr>
            <p:nvPr/>
          </p:nvCxnSpPr>
          <p:spPr>
            <a:xfrm flipV="1">
              <a:off x="3378200" y="4538663"/>
              <a:ext cx="1808163" cy="47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7" idx="6"/>
              <a:endCxn id="11" idx="0"/>
            </p:cNvCxnSpPr>
            <p:nvPr/>
          </p:nvCxnSpPr>
          <p:spPr>
            <a:xfrm>
              <a:off x="1763713" y="3857625"/>
              <a:ext cx="3524250" cy="4349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7" idx="7"/>
              <a:endCxn id="8" idx="5"/>
            </p:cNvCxnSpPr>
            <p:nvPr/>
          </p:nvCxnSpPr>
          <p:spPr>
            <a:xfrm flipV="1">
              <a:off x="1720850" y="2090738"/>
              <a:ext cx="3457575" cy="16652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25"/>
            <p:cNvSpPr txBox="1">
              <a:spLocks noChangeArrowheads="1"/>
            </p:cNvSpPr>
            <p:nvPr/>
          </p:nvSpPr>
          <p:spPr bwMode="auto">
            <a:xfrm>
              <a:off x="3333750" y="1382713"/>
              <a:ext cx="357188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b="1"/>
                <a:t>a</a:t>
              </a:r>
            </a:p>
          </p:txBody>
        </p:sp>
        <p:sp>
          <p:nvSpPr>
            <p:cNvPr id="20" name="TextBox 26"/>
            <p:cNvSpPr txBox="1">
              <a:spLocks noChangeArrowheads="1"/>
            </p:cNvSpPr>
            <p:nvPr/>
          </p:nvSpPr>
          <p:spPr bwMode="auto">
            <a:xfrm>
              <a:off x="1408113" y="4122738"/>
              <a:ext cx="287337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b="1"/>
                <a:t>f</a:t>
              </a:r>
            </a:p>
          </p:txBody>
        </p:sp>
        <p:sp>
          <p:nvSpPr>
            <p:cNvPr id="21" name="TextBox 27"/>
            <p:cNvSpPr txBox="1">
              <a:spLocks noChangeArrowheads="1"/>
            </p:cNvSpPr>
            <p:nvPr/>
          </p:nvSpPr>
          <p:spPr bwMode="auto">
            <a:xfrm>
              <a:off x="3063875" y="4724400"/>
              <a:ext cx="3556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b="1"/>
                <a:t>e</a:t>
              </a:r>
            </a:p>
          </p:txBody>
        </p:sp>
        <p:sp>
          <p:nvSpPr>
            <p:cNvPr id="22" name="TextBox 28"/>
            <p:cNvSpPr txBox="1">
              <a:spLocks noChangeArrowheads="1"/>
            </p:cNvSpPr>
            <p:nvPr/>
          </p:nvSpPr>
          <p:spPr bwMode="auto">
            <a:xfrm>
              <a:off x="5254625" y="4724400"/>
              <a:ext cx="3714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b="1"/>
                <a:t>d</a:t>
              </a:r>
            </a:p>
          </p:txBody>
        </p:sp>
        <p:sp>
          <p:nvSpPr>
            <p:cNvPr id="23" name="TextBox 29"/>
            <p:cNvSpPr txBox="1">
              <a:spLocks noChangeArrowheads="1"/>
            </p:cNvSpPr>
            <p:nvPr/>
          </p:nvSpPr>
          <p:spPr bwMode="auto">
            <a:xfrm>
              <a:off x="6804025" y="2713038"/>
              <a:ext cx="357188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b="1"/>
                <a:t>c</a:t>
              </a:r>
            </a:p>
          </p:txBody>
        </p:sp>
        <p:sp>
          <p:nvSpPr>
            <p:cNvPr id="24" name="TextBox 30"/>
            <p:cNvSpPr txBox="1">
              <a:spLocks noChangeArrowheads="1"/>
            </p:cNvSpPr>
            <p:nvPr/>
          </p:nvSpPr>
          <p:spPr bwMode="auto">
            <a:xfrm>
              <a:off x="4916488" y="1304925"/>
              <a:ext cx="3714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b="1"/>
                <a:t>b</a:t>
              </a:r>
            </a:p>
          </p:txBody>
        </p:sp>
        <p:sp>
          <p:nvSpPr>
            <p:cNvPr id="25" name="TextBox 31"/>
            <p:cNvSpPr txBox="1">
              <a:spLocks noChangeArrowheads="1"/>
            </p:cNvSpPr>
            <p:nvPr/>
          </p:nvSpPr>
          <p:spPr bwMode="auto">
            <a:xfrm>
              <a:off x="1050925" y="2132013"/>
              <a:ext cx="373063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b="1"/>
                <a:t>g</a:t>
              </a:r>
            </a:p>
          </p:txBody>
        </p:sp>
        <p:cxnSp>
          <p:nvCxnSpPr>
            <p:cNvPr id="26" name="Straight Connector 25"/>
            <p:cNvCxnSpPr>
              <a:stCxn id="5" idx="5"/>
              <a:endCxn id="11" idx="0"/>
            </p:cNvCxnSpPr>
            <p:nvPr/>
          </p:nvCxnSpPr>
          <p:spPr>
            <a:xfrm>
              <a:off x="1720850" y="2811463"/>
              <a:ext cx="3567113" cy="14811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6" idx="4"/>
              <a:endCxn id="10" idx="4"/>
            </p:cNvCxnSpPr>
            <p:nvPr/>
          </p:nvCxnSpPr>
          <p:spPr>
            <a:xfrm flipH="1">
              <a:off x="3276600" y="2133600"/>
              <a:ext cx="287338" cy="24511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6" idx="3"/>
              <a:endCxn id="7" idx="7"/>
            </p:cNvCxnSpPr>
            <p:nvPr/>
          </p:nvCxnSpPr>
          <p:spPr>
            <a:xfrm flipH="1">
              <a:off x="1720850" y="2090738"/>
              <a:ext cx="1741488" cy="16652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8" idx="5"/>
              <a:endCxn id="10" idx="6"/>
            </p:cNvCxnSpPr>
            <p:nvPr/>
          </p:nvCxnSpPr>
          <p:spPr>
            <a:xfrm flipH="1">
              <a:off x="3419475" y="2090738"/>
              <a:ext cx="1758950" cy="2349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/>
          <p:cNvSpPr/>
          <p:nvPr/>
        </p:nvSpPr>
        <p:spPr>
          <a:xfrm>
            <a:off x="474260" y="1544684"/>
            <a:ext cx="28880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Is this </a:t>
            </a:r>
            <a:r>
              <a:rPr lang="en-US" sz="2400" b="1" dirty="0" smtClean="0"/>
              <a:t>bipartite</a:t>
            </a:r>
            <a:r>
              <a:rPr lang="en-US" sz="2400" dirty="0" smtClean="0"/>
              <a:t>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1365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2019300" y="2535237"/>
            <a:ext cx="4568825" cy="2798763"/>
            <a:chOff x="2019300" y="1638300"/>
            <a:chExt cx="4568825" cy="2798763"/>
          </a:xfrm>
        </p:grpSpPr>
        <p:sp>
          <p:nvSpPr>
            <p:cNvPr id="31" name="Oval 30"/>
            <p:cNvSpPr/>
            <p:nvPr/>
          </p:nvSpPr>
          <p:spPr>
            <a:xfrm>
              <a:off x="3535363" y="1638300"/>
              <a:ext cx="288925" cy="28733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2092325" y="3902075"/>
              <a:ext cx="288925" cy="28892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6300788" y="1638300"/>
              <a:ext cx="287337" cy="28733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4513263" y="4148138"/>
              <a:ext cx="287337" cy="28892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6300788" y="4148138"/>
              <a:ext cx="287337" cy="28892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b="1">
                <a:solidFill>
                  <a:schemeClr val="tx1"/>
                </a:solidFill>
              </a:endParaRPr>
            </a:p>
          </p:txBody>
        </p:sp>
        <p:cxnSp>
          <p:nvCxnSpPr>
            <p:cNvPr id="36" name="Straight Connector 35"/>
            <p:cNvCxnSpPr>
              <a:stCxn id="31" idx="3"/>
              <a:endCxn id="32" idx="7"/>
            </p:cNvCxnSpPr>
            <p:nvPr/>
          </p:nvCxnSpPr>
          <p:spPr>
            <a:xfrm flipH="1">
              <a:off x="2338388" y="1884363"/>
              <a:ext cx="1239837" cy="20605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32" idx="6"/>
              <a:endCxn id="33" idx="4"/>
            </p:cNvCxnSpPr>
            <p:nvPr/>
          </p:nvCxnSpPr>
          <p:spPr>
            <a:xfrm flipV="1">
              <a:off x="2381250" y="1925638"/>
              <a:ext cx="4062413" cy="21209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stCxn id="31" idx="4"/>
              <a:endCxn id="34" idx="1"/>
            </p:cNvCxnSpPr>
            <p:nvPr/>
          </p:nvCxnSpPr>
          <p:spPr>
            <a:xfrm>
              <a:off x="3679825" y="1925638"/>
              <a:ext cx="876300" cy="22653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31" idx="6"/>
              <a:endCxn id="35" idx="7"/>
            </p:cNvCxnSpPr>
            <p:nvPr/>
          </p:nvCxnSpPr>
          <p:spPr>
            <a:xfrm>
              <a:off x="3824288" y="1782763"/>
              <a:ext cx="2720975" cy="24082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33" idx="5"/>
              <a:endCxn id="34" idx="6"/>
            </p:cNvCxnSpPr>
            <p:nvPr/>
          </p:nvCxnSpPr>
          <p:spPr>
            <a:xfrm flipH="1">
              <a:off x="4800600" y="1884363"/>
              <a:ext cx="1744663" cy="24082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>
              <a:stCxn id="33" idx="5"/>
              <a:endCxn id="35" idx="6"/>
            </p:cNvCxnSpPr>
            <p:nvPr/>
          </p:nvCxnSpPr>
          <p:spPr>
            <a:xfrm>
              <a:off x="6545263" y="1884363"/>
              <a:ext cx="42862" cy="24082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/>
            <p:cNvSpPr/>
            <p:nvPr/>
          </p:nvSpPr>
          <p:spPr>
            <a:xfrm>
              <a:off x="2019300" y="1739900"/>
              <a:ext cx="287338" cy="28892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b="1">
                <a:solidFill>
                  <a:schemeClr val="tx1"/>
                </a:solidFill>
              </a:endParaRPr>
            </a:p>
          </p:txBody>
        </p:sp>
        <p:cxnSp>
          <p:nvCxnSpPr>
            <p:cNvPr id="43" name="Straight Connector 42"/>
            <p:cNvCxnSpPr>
              <a:stCxn id="42" idx="6"/>
            </p:cNvCxnSpPr>
            <p:nvPr/>
          </p:nvCxnSpPr>
          <p:spPr>
            <a:xfrm>
              <a:off x="2306638" y="1884363"/>
              <a:ext cx="4137025" cy="24082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42" idx="5"/>
              <a:endCxn id="34" idx="0"/>
            </p:cNvCxnSpPr>
            <p:nvPr/>
          </p:nvCxnSpPr>
          <p:spPr>
            <a:xfrm>
              <a:off x="2265363" y="1985963"/>
              <a:ext cx="2392362" cy="21621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>
              <a:stCxn id="42" idx="4"/>
              <a:endCxn id="32" idx="0"/>
            </p:cNvCxnSpPr>
            <p:nvPr/>
          </p:nvCxnSpPr>
          <p:spPr>
            <a:xfrm>
              <a:off x="2163763" y="2028825"/>
              <a:ext cx="73025" cy="18732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88425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447800"/>
            <a:ext cx="6248399" cy="4571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837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Complete Bipartite Graphs</a:t>
            </a:r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22" t="34896" r="22108" b="24739"/>
          <a:stretch/>
        </p:blipFill>
        <p:spPr bwMode="auto">
          <a:xfrm>
            <a:off x="1066800" y="3124200"/>
            <a:ext cx="7439064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457200" y="1676400"/>
            <a:ext cx="82296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A </a:t>
            </a:r>
            <a:r>
              <a:rPr lang="en-US" sz="2200" b="1" dirty="0"/>
              <a:t>complete bipartite graph </a:t>
            </a:r>
            <a:r>
              <a:rPr lang="en-US" sz="2200" b="1" i="1" dirty="0" err="1"/>
              <a:t>K</a:t>
            </a:r>
            <a:r>
              <a:rPr lang="en-US" sz="2200" b="1" i="1" baseline="-25000" dirty="0" err="1"/>
              <a:t>m,n</a:t>
            </a:r>
            <a:r>
              <a:rPr lang="en-US" sz="2200" b="1" i="1" dirty="0"/>
              <a:t> </a:t>
            </a:r>
            <a:r>
              <a:rPr lang="en-US" sz="2200" dirty="0"/>
              <a:t>is a graph that has its vertex set partitioned into two subsets of </a:t>
            </a:r>
            <a:r>
              <a:rPr lang="en-US" sz="2200" i="1" dirty="0"/>
              <a:t>m </a:t>
            </a:r>
            <a:r>
              <a:rPr lang="en-US" sz="2200" dirty="0"/>
              <a:t>and </a:t>
            </a:r>
            <a:r>
              <a:rPr lang="en-US" sz="2200" i="1" dirty="0"/>
              <a:t>n </a:t>
            </a:r>
            <a:r>
              <a:rPr lang="en-US" sz="2200" dirty="0"/>
              <a:t>vertices, respectively with an edge between two vertices </a:t>
            </a:r>
            <a:r>
              <a:rPr lang="en-US" sz="2200" dirty="0" err="1"/>
              <a:t>iff</a:t>
            </a:r>
            <a:r>
              <a:rPr lang="en-US" sz="2200" dirty="0"/>
              <a:t> one vertex is in the first subset and the other vertex is in the second subset.</a:t>
            </a:r>
          </a:p>
        </p:txBody>
      </p:sp>
    </p:spTree>
    <p:extLst>
      <p:ext uri="{BB962C8B-B14F-4D97-AF65-F5344CB8AC3E}">
        <p14:creationId xmlns:p14="http://schemas.microsoft.com/office/powerpoint/2010/main" val="2296414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C00000"/>
                </a:solidFill>
              </a:rPr>
              <a:t>Sub-graphs</a:t>
            </a:r>
            <a:endParaRPr lang="en-US" sz="32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</a:t>
                </a:r>
                <a:r>
                  <a:rPr lang="en-US" i="1" dirty="0" smtClean="0"/>
                  <a:t>sub-graph </a:t>
                </a:r>
                <a:r>
                  <a:rPr lang="en-US" i="1" dirty="0"/>
                  <a:t>of a graph G </a:t>
                </a:r>
                <a:r>
                  <a:rPr lang="en-US" dirty="0"/>
                  <a:t>= </a:t>
                </a:r>
                <a:r>
                  <a:rPr lang="en-US" i="1" dirty="0"/>
                  <a:t>(V ,E) </a:t>
                </a:r>
                <a:r>
                  <a:rPr lang="en-US" dirty="0"/>
                  <a:t>is a graph </a:t>
                </a:r>
                <a:r>
                  <a:rPr lang="en-US" i="1" dirty="0" smtClean="0"/>
                  <a:t>H </a:t>
                </a:r>
                <a:r>
                  <a:rPr lang="en-US" dirty="0"/>
                  <a:t>= </a:t>
                </a:r>
                <a:r>
                  <a:rPr lang="en-US" i="1" dirty="0"/>
                  <a:t>(W, F)</a:t>
                </a:r>
                <a:r>
                  <a:rPr lang="en-US" dirty="0"/>
                  <a:t>, where </a:t>
                </a:r>
                <a:r>
                  <a:rPr lang="en-US" i="1" dirty="0"/>
                  <a:t>W </a:t>
                </a:r>
                <a:r>
                  <a:rPr lang="en-US" dirty="0"/>
                  <a:t>⊆ </a:t>
                </a:r>
                <a:r>
                  <a:rPr lang="en-US" i="1" dirty="0"/>
                  <a:t>V </a:t>
                </a:r>
                <a:r>
                  <a:rPr lang="en-US" dirty="0"/>
                  <a:t>and </a:t>
                </a:r>
                <a:r>
                  <a:rPr lang="en-US" i="1" dirty="0"/>
                  <a:t>F </a:t>
                </a:r>
                <a:r>
                  <a:rPr lang="en-US" dirty="0"/>
                  <a:t>⊆ </a:t>
                </a:r>
                <a:r>
                  <a:rPr lang="en-US" i="1" dirty="0"/>
                  <a:t>E</a:t>
                </a:r>
                <a:r>
                  <a:rPr lang="en-US" dirty="0"/>
                  <a:t>.  </a:t>
                </a:r>
              </a:p>
              <a:p>
                <a:r>
                  <a:rPr lang="en-US" dirty="0"/>
                  <a:t>A </a:t>
                </a:r>
                <a:r>
                  <a:rPr lang="en-US" dirty="0" smtClean="0"/>
                  <a:t>sub-graph </a:t>
                </a:r>
                <a:r>
                  <a:rPr lang="en-US" i="1" dirty="0"/>
                  <a:t>H </a:t>
                </a:r>
                <a:r>
                  <a:rPr lang="en-US" dirty="0"/>
                  <a:t>of </a:t>
                </a:r>
                <a:r>
                  <a:rPr lang="en-US" i="1" dirty="0"/>
                  <a:t>G </a:t>
                </a:r>
                <a:r>
                  <a:rPr lang="en-US" dirty="0"/>
                  <a:t>is a </a:t>
                </a:r>
                <a:r>
                  <a:rPr lang="en-US" i="1" dirty="0"/>
                  <a:t>proper </a:t>
                </a:r>
                <a:r>
                  <a:rPr lang="en-US" i="1" dirty="0" smtClean="0"/>
                  <a:t>sub-graph </a:t>
                </a:r>
                <a:r>
                  <a:rPr lang="en-US" dirty="0"/>
                  <a:t>of </a:t>
                </a:r>
                <a:r>
                  <a:rPr lang="en-US" i="1" dirty="0"/>
                  <a:t>G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𝐻</m:t>
                    </m:r>
                    <m:r>
                      <a:rPr lang="en-US" i="1" dirty="0">
                        <a:latin typeface="Cambria Math"/>
                      </a:rPr>
                      <m:t>≠</m:t>
                    </m:r>
                    <m:r>
                      <a:rPr lang="en-US" i="1" dirty="0">
                        <a:latin typeface="Cambria Math"/>
                      </a:rPr>
                      <m:t>𝐺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3352800"/>
            <a:ext cx="5257799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673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6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8" t="45781" r="8478" b="14371"/>
          <a:stretch/>
        </p:blipFill>
        <p:spPr bwMode="auto">
          <a:xfrm>
            <a:off x="990600" y="2667000"/>
            <a:ext cx="7391399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9906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How to Represent a Graph?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Mathematically, a graph G is represented by two sets: vertex set V and edge Set E.</a:t>
            </a:r>
          </a:p>
          <a:p>
            <a:r>
              <a:rPr lang="en-US" dirty="0" smtClean="0"/>
              <a:t>G = (V, E), a tuple of two sets.</a:t>
            </a:r>
          </a:p>
          <a:p>
            <a:r>
              <a:rPr lang="en-US" dirty="0" smtClean="0"/>
              <a:t>How to represent a graph by computer?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962400"/>
            <a:ext cx="2333625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114800" y="4114800"/>
            <a:ext cx="3733800" cy="175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V = { a, b, c, d, e, f }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E = </a:t>
            </a:r>
            <a:r>
              <a:rPr lang="en-US" dirty="0">
                <a:solidFill>
                  <a:schemeClr val="tx1"/>
                </a:solidFill>
              </a:rPr>
              <a:t>{{</a:t>
            </a:r>
            <a:r>
              <a:rPr lang="en-US" dirty="0" err="1" smtClean="0">
                <a:solidFill>
                  <a:schemeClr val="tx1"/>
                </a:solidFill>
              </a:rPr>
              <a:t>a,b</a:t>
            </a:r>
            <a:r>
              <a:rPr lang="en-US" dirty="0" smtClean="0">
                <a:solidFill>
                  <a:schemeClr val="tx1"/>
                </a:solidFill>
              </a:rPr>
              <a:t>},{</a:t>
            </a:r>
            <a:r>
              <a:rPr lang="en-US" dirty="0" err="1" smtClean="0">
                <a:solidFill>
                  <a:schemeClr val="tx1"/>
                </a:solidFill>
              </a:rPr>
              <a:t>a,c</a:t>
            </a:r>
            <a:r>
              <a:rPr lang="en-US" dirty="0" smtClean="0">
                <a:solidFill>
                  <a:schemeClr val="tx1"/>
                </a:solidFill>
              </a:rPr>
              <a:t>},{</a:t>
            </a:r>
            <a:r>
              <a:rPr lang="en-US" dirty="0" err="1" smtClean="0">
                <a:solidFill>
                  <a:schemeClr val="tx1"/>
                </a:solidFill>
              </a:rPr>
              <a:t>b,c</a:t>
            </a:r>
            <a:r>
              <a:rPr lang="en-US" dirty="0" smtClean="0">
                <a:solidFill>
                  <a:schemeClr val="tx1"/>
                </a:solidFill>
              </a:rPr>
              <a:t>},</a:t>
            </a: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         {</a:t>
            </a:r>
            <a:r>
              <a:rPr lang="en-US" dirty="0" err="1" smtClean="0">
                <a:solidFill>
                  <a:schemeClr val="tx1"/>
                </a:solidFill>
              </a:rPr>
              <a:t>b,e</a:t>
            </a:r>
            <a:r>
              <a:rPr lang="en-US" dirty="0" smtClean="0">
                <a:solidFill>
                  <a:schemeClr val="tx1"/>
                </a:solidFill>
              </a:rPr>
              <a:t>},{</a:t>
            </a:r>
            <a:r>
              <a:rPr lang="en-US" dirty="0" err="1" smtClean="0">
                <a:solidFill>
                  <a:schemeClr val="tx1"/>
                </a:solidFill>
              </a:rPr>
              <a:t>b,f</a:t>
            </a:r>
            <a:r>
              <a:rPr lang="en-US" dirty="0" smtClean="0">
                <a:solidFill>
                  <a:schemeClr val="tx1"/>
                </a:solidFill>
              </a:rPr>
              <a:t>},{</a:t>
            </a:r>
            <a:r>
              <a:rPr lang="en-US" dirty="0" err="1" smtClean="0">
                <a:solidFill>
                  <a:schemeClr val="tx1"/>
                </a:solidFill>
              </a:rPr>
              <a:t>c,f</a:t>
            </a:r>
            <a:r>
              <a:rPr lang="en-US" dirty="0" smtClean="0">
                <a:solidFill>
                  <a:schemeClr val="tx1"/>
                </a:solidFill>
              </a:rPr>
              <a:t>}}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02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Adjacency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table with 1 row per vertex, listing its adjacent vertices.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505200"/>
            <a:ext cx="2333625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225" y="3048000"/>
            <a:ext cx="3762375" cy="331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4232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Adjacency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Matrix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= [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],</m:t>
                    </m:r>
                  </m:oMath>
                </a14:m>
                <a:r>
                  <a:rPr lang="en-US" dirty="0" smtClean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 is 1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{</m:t>
                        </m:r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en-US" dirty="0" smtClean="0"/>
                  <a:t> is an edge of G, and is 0 otherwise.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505200"/>
            <a:ext cx="2333625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057525"/>
            <a:ext cx="3276600" cy="319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415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Adjacency List for Directed Graph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286000"/>
            <a:ext cx="36576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0" y="2438400"/>
            <a:ext cx="371475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3234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Adjacency Matrix for Directed Graph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Marker/>
                    </a14:imgEffect>
                    <a14:imgEffect>
                      <a14:colorTemperature colorTemp="6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9440" y="2819400"/>
            <a:ext cx="2727960" cy="2321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4274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Clr>
                    <a:srgbClr val="797B7E"/>
                  </a:buClr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Draw a </a:t>
                </a:r>
                <a:r>
                  <a:rPr lang="en-US" dirty="0" smtClean="0">
                    <a:solidFill>
                      <a:srgbClr val="000000"/>
                    </a:solidFill>
                  </a:rPr>
                  <a:t>undirected graph </a:t>
                </a:r>
                <a:r>
                  <a:rPr lang="en-US" dirty="0">
                    <a:solidFill>
                      <a:srgbClr val="000000"/>
                    </a:solidFill>
                  </a:rPr>
                  <a:t>with the adjacency matrix</a:t>
                </a:r>
              </a:p>
              <a:p>
                <a:pPr marL="0" lvl="0" indent="0">
                  <a:buClr>
                    <a:srgbClr val="797B7E"/>
                  </a:buClr>
                  <a:buNone/>
                </a:pPr>
                <a:endParaRPr lang="en-US" dirty="0">
                  <a:solidFill>
                    <a:srgbClr val="000000"/>
                  </a:solidFill>
                </a:endParaRPr>
              </a:p>
              <a:p>
                <a:pPr marL="0" lvl="0" indent="0">
                  <a:buClr>
                    <a:srgbClr val="797B7E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:pPr marL="0" lvl="0" indent="0">
                  <a:buClr>
                    <a:srgbClr val="797B7E"/>
                  </a:buClr>
                  <a:buNone/>
                </a:pPr>
                <a:endParaRPr lang="en-US" dirty="0">
                  <a:solidFill>
                    <a:srgbClr val="000000"/>
                  </a:solidFill>
                </a:endParaRPr>
              </a:p>
              <a:p>
                <a:pPr marL="0" lvl="0" indent="0">
                  <a:buClr>
                    <a:srgbClr val="797B7E"/>
                  </a:buClr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with respect to the ordering of vertices a, b, c, d.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689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600200"/>
            <a:ext cx="6248400" cy="3657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295400" y="5715000"/>
            <a:ext cx="6091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Find the adjacency matrix of </a:t>
            </a:r>
            <a:r>
              <a:rPr lang="en-US" sz="2400" dirty="0" err="1" smtClean="0"/>
              <a:t>pseudograph</a:t>
            </a:r>
            <a:r>
              <a:rPr lang="en-US" sz="2400" dirty="0" smtClean="0"/>
              <a:t>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71745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Incidence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𝐺</m:t>
                    </m:r>
                    <m:r>
                      <a:rPr lang="en-US" i="1" dirty="0" smtClean="0">
                        <a:latin typeface="Cambria Math"/>
                      </a:rPr>
                      <m:t> =(</m:t>
                    </m:r>
                    <m:r>
                      <a:rPr lang="en-US" i="1" dirty="0" smtClean="0">
                        <a:latin typeface="Cambria Math"/>
                      </a:rPr>
                      <m:t>𝑉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𝐸</m:t>
                    </m:r>
                    <m:r>
                      <a:rPr lang="en-US" i="1" dirty="0" smtClean="0">
                        <a:latin typeface="Cambria Math"/>
                      </a:rPr>
                      <m:t>) </m:t>
                    </m:r>
                  </m:oMath>
                </a14:m>
                <a:r>
                  <a:rPr lang="en-US" dirty="0" smtClean="0"/>
                  <a:t>be an undirected graph. Suppose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1,2,…,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 smtClean="0"/>
                  <a:t> are the vertices and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  <m:r>
                          <a:rPr lang="en-US" b="0" i="1" smtClean="0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,…,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 smtClean="0"/>
                  <a:t> are the edges of G. Then the incidence matrix with respect to this ordering of V and E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i="1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US" dirty="0" smtClean="0"/>
                  <a:t> matrix M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 = [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],</m:t>
                    </m:r>
                  </m:oMath>
                </a14:m>
                <a:r>
                  <a:rPr lang="en-US" dirty="0" smtClean="0"/>
                  <a:t> where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1      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𝑤h𝑒𝑛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𝑒𝑑𝑔𝑒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𝑖𝑠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𝑖𝑛𝑐𝑖𝑑𝑒𝑛𝑡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𝑜𝑛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.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0     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𝑜𝑡h𝑒𝑟𝑤𝑖𝑠𝑒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                                       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 smtClean="0"/>
                  <a:t> </a:t>
                </a:r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875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371975"/>
            <a:ext cx="3457575" cy="218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25" y="3886200"/>
            <a:ext cx="4067175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0774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4" t="52344" r="70132" b="30989"/>
          <a:stretch/>
        </p:blipFill>
        <p:spPr bwMode="auto">
          <a:xfrm>
            <a:off x="2209800" y="1676400"/>
            <a:ext cx="38100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1546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4" t="52344" r="70132" b="30989"/>
          <a:stretch/>
        </p:blipFill>
        <p:spPr bwMode="auto">
          <a:xfrm>
            <a:off x="2209800" y="1371600"/>
            <a:ext cx="38100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92" t="60321" r="39618" b="16887"/>
          <a:stretch/>
        </p:blipFill>
        <p:spPr bwMode="auto">
          <a:xfrm>
            <a:off x="990600" y="3695700"/>
            <a:ext cx="661035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97826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Path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path </a:t>
            </a:r>
            <a:r>
              <a:rPr lang="en-US" dirty="0"/>
              <a:t>is a sequence of edges that begins at a vertex of a graph and travels from vertex to vertex along edges of the graph.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Find a path between </a:t>
            </a:r>
            <a:r>
              <a:rPr lang="en-US" b="1" i="1" dirty="0"/>
              <a:t>a</a:t>
            </a:r>
            <a:r>
              <a:rPr lang="en-US" dirty="0"/>
              <a:t> and </a:t>
            </a:r>
            <a:r>
              <a:rPr lang="en-US" b="1" i="1" dirty="0"/>
              <a:t>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83" t="59115" r="54026" b="22461"/>
          <a:stretch/>
        </p:blipFill>
        <p:spPr bwMode="auto">
          <a:xfrm>
            <a:off x="2438400" y="2743200"/>
            <a:ext cx="3733800" cy="2317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86016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Path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Find </a:t>
            </a:r>
            <a:r>
              <a:rPr lang="en-US" dirty="0"/>
              <a:t>a path between </a:t>
            </a:r>
            <a:r>
              <a:rPr lang="en-US" b="1" i="1" dirty="0"/>
              <a:t>a</a:t>
            </a:r>
            <a:r>
              <a:rPr lang="en-US" dirty="0"/>
              <a:t> and </a:t>
            </a:r>
            <a:r>
              <a:rPr lang="en-US" b="1" i="1" dirty="0"/>
              <a:t>e</a:t>
            </a:r>
            <a:r>
              <a:rPr lang="en-US" dirty="0"/>
              <a:t>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b="1" i="1" dirty="0" smtClean="0"/>
          </a:p>
          <a:p>
            <a:endParaRPr lang="en-US" b="1" i="1" dirty="0"/>
          </a:p>
          <a:p>
            <a:r>
              <a:rPr lang="en-US" b="1" i="1" dirty="0" smtClean="0"/>
              <a:t>a</a:t>
            </a:r>
            <a:r>
              <a:rPr lang="en-US" b="1" dirty="0"/>
              <a:t>, </a:t>
            </a:r>
            <a:r>
              <a:rPr lang="en-US" b="1" i="1" dirty="0"/>
              <a:t>d</a:t>
            </a:r>
            <a:r>
              <a:rPr lang="en-US" b="1" dirty="0"/>
              <a:t>, </a:t>
            </a:r>
            <a:r>
              <a:rPr lang="en-US" b="1" i="1" dirty="0"/>
              <a:t>c</a:t>
            </a:r>
            <a:r>
              <a:rPr lang="en-US" b="1" dirty="0"/>
              <a:t>, </a:t>
            </a:r>
            <a:r>
              <a:rPr lang="en-US" b="1" i="1" dirty="0"/>
              <a:t>f </a:t>
            </a:r>
            <a:r>
              <a:rPr lang="en-US" b="1" dirty="0"/>
              <a:t>, </a:t>
            </a:r>
            <a:r>
              <a:rPr lang="en-US" b="1" i="1" dirty="0"/>
              <a:t>e</a:t>
            </a:r>
            <a:r>
              <a:rPr lang="en-US" i="1" dirty="0"/>
              <a:t> </a:t>
            </a:r>
            <a:r>
              <a:rPr lang="en-US" dirty="0"/>
              <a:t>is a simple path of length 4, because {</a:t>
            </a:r>
            <a:r>
              <a:rPr lang="en-US" i="1" dirty="0"/>
              <a:t>a, d</a:t>
            </a:r>
            <a:r>
              <a:rPr lang="en-US" dirty="0"/>
              <a:t>}, {</a:t>
            </a:r>
            <a:r>
              <a:rPr lang="en-US" i="1" dirty="0"/>
              <a:t>d, c</a:t>
            </a:r>
            <a:r>
              <a:rPr lang="en-US" dirty="0"/>
              <a:t>}, {</a:t>
            </a:r>
            <a:r>
              <a:rPr lang="en-US" i="1" dirty="0"/>
              <a:t>c, f </a:t>
            </a:r>
            <a:r>
              <a:rPr lang="en-US" dirty="0"/>
              <a:t>}, and {</a:t>
            </a:r>
            <a:r>
              <a:rPr lang="en-US" i="1" dirty="0"/>
              <a:t>f, e</a:t>
            </a:r>
            <a:r>
              <a:rPr lang="en-US" dirty="0"/>
              <a:t>} are all edges.</a:t>
            </a:r>
          </a:p>
          <a:p>
            <a:r>
              <a:rPr lang="en-US" b="1" i="1" dirty="0"/>
              <a:t>a</a:t>
            </a:r>
            <a:r>
              <a:rPr lang="en-US" b="1" dirty="0"/>
              <a:t>, </a:t>
            </a:r>
            <a:r>
              <a:rPr lang="en-US" b="1" i="1" dirty="0"/>
              <a:t>e</a:t>
            </a:r>
            <a:r>
              <a:rPr lang="en-US" i="1" dirty="0"/>
              <a:t> </a:t>
            </a:r>
            <a:r>
              <a:rPr lang="en-US" dirty="0"/>
              <a:t>is a simple path of length 1, because {</a:t>
            </a:r>
            <a:r>
              <a:rPr lang="en-US" i="1" dirty="0"/>
              <a:t>a, e</a:t>
            </a:r>
            <a:r>
              <a:rPr lang="en-US" dirty="0"/>
              <a:t>} is the  edge connecting both vertices.</a:t>
            </a:r>
          </a:p>
          <a:p>
            <a:r>
              <a:rPr lang="en-US" b="1" i="1" dirty="0"/>
              <a:t>a</a:t>
            </a:r>
            <a:r>
              <a:rPr lang="en-US" b="1" dirty="0"/>
              <a:t>, </a:t>
            </a:r>
            <a:r>
              <a:rPr lang="en-US" b="1" i="1" dirty="0"/>
              <a:t>b</a:t>
            </a:r>
            <a:r>
              <a:rPr lang="en-US" b="1" dirty="0"/>
              <a:t>, </a:t>
            </a:r>
            <a:r>
              <a:rPr lang="en-US" b="1" i="1" dirty="0"/>
              <a:t>f </a:t>
            </a:r>
            <a:r>
              <a:rPr lang="en-US" b="1" dirty="0"/>
              <a:t>, </a:t>
            </a:r>
            <a:r>
              <a:rPr lang="en-US" b="1" i="1" dirty="0"/>
              <a:t>e</a:t>
            </a:r>
            <a:r>
              <a:rPr lang="en-US" i="1" dirty="0"/>
              <a:t> </a:t>
            </a:r>
            <a:r>
              <a:rPr lang="en-US" dirty="0"/>
              <a:t>is a simple path of length 3, because {</a:t>
            </a:r>
            <a:r>
              <a:rPr lang="en-US" i="1" dirty="0"/>
              <a:t>a, b</a:t>
            </a:r>
            <a:r>
              <a:rPr lang="en-US" dirty="0"/>
              <a:t>}, {</a:t>
            </a:r>
            <a:r>
              <a:rPr lang="en-US" i="1" dirty="0"/>
              <a:t>b, f</a:t>
            </a:r>
            <a:r>
              <a:rPr lang="en-US" dirty="0"/>
              <a:t>}, and {</a:t>
            </a:r>
            <a:r>
              <a:rPr lang="en-US" i="1" dirty="0"/>
              <a:t>f, e</a:t>
            </a:r>
            <a:r>
              <a:rPr lang="en-US" dirty="0"/>
              <a:t>} are all edges.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83" t="59115" r="54026" b="22461"/>
          <a:stretch/>
        </p:blipFill>
        <p:spPr bwMode="auto">
          <a:xfrm>
            <a:off x="2438400" y="1981200"/>
            <a:ext cx="3733800" cy="2317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67854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C00000"/>
                </a:solidFill>
              </a:rPr>
              <a:t>Graph Distance 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smtClean="0"/>
              <a:t>graph distance between </a:t>
            </a:r>
            <a:r>
              <a:rPr lang="en-US" dirty="0"/>
              <a:t>two vertices in a graph is the number of edges in </a:t>
            </a:r>
            <a:r>
              <a:rPr lang="en-US" dirty="0" smtClean="0"/>
              <a:t>a shortest path </a:t>
            </a:r>
            <a:r>
              <a:rPr lang="en-US" dirty="0"/>
              <a:t>connecting them.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Also </a:t>
            </a:r>
            <a:r>
              <a:rPr lang="en-US" dirty="0"/>
              <a:t>known as the </a:t>
            </a:r>
            <a:r>
              <a:rPr lang="en-US" b="1" dirty="0"/>
              <a:t>geodesic </a:t>
            </a:r>
            <a:r>
              <a:rPr lang="en-US" b="1" dirty="0" smtClean="0"/>
              <a:t>distance</a:t>
            </a:r>
            <a:r>
              <a:rPr lang="en-US" dirty="0"/>
              <a:t>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There </a:t>
            </a:r>
            <a:r>
              <a:rPr lang="en-US" dirty="0"/>
              <a:t>may be more than one shortest path between two </a:t>
            </a:r>
            <a:r>
              <a:rPr lang="en-US" dirty="0" smtClean="0"/>
              <a:t>vertices.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If </a:t>
            </a:r>
            <a:r>
              <a:rPr lang="en-US" dirty="0" smtClean="0"/>
              <a:t>we compute </a:t>
            </a:r>
            <a:r>
              <a:rPr lang="en-US" dirty="0"/>
              <a:t>the distance between every pair of </a:t>
            </a:r>
            <a:r>
              <a:rPr lang="en-US" dirty="0" smtClean="0"/>
              <a:t>vertices of graph G, </a:t>
            </a:r>
            <a:r>
              <a:rPr lang="en-US" dirty="0"/>
              <a:t>we can construct a distance matrix </a:t>
            </a:r>
            <a:r>
              <a:rPr lang="en-US" i="1" dirty="0" smtClean="0"/>
              <a:t>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89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Eccentricity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eccentricity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𝑒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𝑣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of a </a:t>
                </a:r>
                <a:r>
                  <a:rPr lang="en-US" dirty="0" smtClean="0"/>
                  <a:t>vertex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en-US" dirty="0"/>
                  <a:t> in a connected graph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𝐺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𝑉</m:t>
                    </m:r>
                    <m:r>
                      <a:rPr lang="en-US" i="1" dirty="0" smtClean="0">
                        <a:latin typeface="Cambria Math"/>
                      </a:rPr>
                      <m:t>,</m:t>
                    </m:r>
                    <m:r>
                      <a:rPr lang="en-US" i="1" dirty="0" smtClean="0">
                        <a:latin typeface="Cambria Math"/>
                      </a:rPr>
                      <m:t>𝐸</m:t>
                    </m:r>
                    <m:r>
                      <a:rPr lang="en-US" i="1" dirty="0" smtClean="0">
                        <a:latin typeface="Cambria Math"/>
                      </a:rPr>
                      <m:t>) </m:t>
                    </m:r>
                  </m:oMath>
                </a14:m>
                <a:r>
                  <a:rPr lang="en-US" dirty="0"/>
                  <a:t>is max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𝑑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err="1">
                        <a:latin typeface="Cambria Math"/>
                      </a:rPr>
                      <m:t>𝑢</m:t>
                    </m:r>
                    <m:r>
                      <a:rPr lang="en-US" i="1" dirty="0" err="1">
                        <a:latin typeface="Cambria Math"/>
                      </a:rPr>
                      <m:t>,</m:t>
                    </m:r>
                    <m:r>
                      <a:rPr lang="en-US" i="1" dirty="0" err="1">
                        <a:latin typeface="Cambria Math"/>
                      </a:rPr>
                      <m:t>𝑣</m:t>
                    </m:r>
                    <m:r>
                      <a:rPr lang="en-US" i="1" dirty="0">
                        <a:latin typeface="Cambria Math"/>
                      </a:rPr>
                      <m:t>), </m:t>
                    </m:r>
                  </m:oMath>
                </a14:m>
                <a:r>
                  <a:rPr lang="en-US" dirty="0"/>
                  <a:t>for 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𝑢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i="1" dirty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. In other words, a </a:t>
                </a:r>
                <a:r>
                  <a:rPr lang="en-US" dirty="0" smtClean="0"/>
                  <a:t>vertex’s </a:t>
                </a:r>
                <a:r>
                  <a:rPr lang="en-US" dirty="0"/>
                  <a:t>eccentricity is equal to the distance from itself to the </a:t>
                </a:r>
                <a:r>
                  <a:rPr lang="en-US" dirty="0" smtClean="0"/>
                  <a:t>vertex </a:t>
                </a:r>
                <a:r>
                  <a:rPr lang="en-US" dirty="0"/>
                  <a:t>farthest away.  </a:t>
                </a:r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 smtClean="0"/>
                  <a:t>The </a:t>
                </a:r>
                <a:r>
                  <a:rPr lang="en-US" dirty="0"/>
                  <a:t>minimum eccentricity of all </a:t>
                </a:r>
                <a:r>
                  <a:rPr lang="en-US" dirty="0" smtClean="0"/>
                  <a:t>vertices </a:t>
                </a:r>
                <a:r>
                  <a:rPr lang="en-US" dirty="0"/>
                  <a:t>in a graph is called the radius </a:t>
                </a:r>
                <a:r>
                  <a:rPr lang="en-US" dirty="0" smtClean="0"/>
                  <a:t>of </a:t>
                </a:r>
                <a:r>
                  <a:rPr lang="en-US" dirty="0"/>
                  <a:t>the graph, </a:t>
                </a:r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 smtClean="0"/>
                  <a:t>The maximum eccentricity </a:t>
                </a:r>
                <a:r>
                  <a:rPr lang="en-US" dirty="0"/>
                  <a:t>of all vertices</a:t>
                </a:r>
                <a:r>
                  <a:rPr lang="en-US" dirty="0" smtClean="0"/>
                  <a:t> </a:t>
                </a:r>
                <a:r>
                  <a:rPr lang="en-US" dirty="0"/>
                  <a:t>in a graph </a:t>
                </a:r>
                <a:r>
                  <a:rPr lang="en-US" dirty="0" smtClean="0"/>
                  <a:t>is </a:t>
                </a:r>
                <a:r>
                  <a:rPr lang="en-US" dirty="0"/>
                  <a:t>the diameter of the </a:t>
                </a:r>
                <a:r>
                  <a:rPr lang="en-US" dirty="0" smtClean="0"/>
                  <a:t>graph.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5339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Draw a undirected graph with the adjacency matrix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with respect to the ordering of vertices a, b, c, d.</a:t>
                </a:r>
              </a:p>
              <a:p>
                <a:pPr marL="0" indent="0">
                  <a:buNone/>
                </a:pPr>
                <a:r>
                  <a:rPr lang="en-US" dirty="0" smtClean="0"/>
                  <a:t>Find distance matrix of graph, eccentricity of each vertex, diameter and radius of graph.</a:t>
                </a:r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3813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22857</TotalTime>
  <Words>644</Words>
  <Application>Microsoft Office PowerPoint</Application>
  <PresentationFormat>On-screen Show (4:3)</PresentationFormat>
  <Paragraphs>129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ＭＳ Ｐゴシック</vt:lpstr>
      <vt:lpstr>Arial</vt:lpstr>
      <vt:lpstr>Calibri</vt:lpstr>
      <vt:lpstr>Cambria Math</vt:lpstr>
      <vt:lpstr>Clarity</vt:lpstr>
      <vt:lpstr>                              Discrete Structures  (Discrete Mathematics) Spring 2024</vt:lpstr>
      <vt:lpstr>Special Graph Structures</vt:lpstr>
      <vt:lpstr>Complete Graphs</vt:lpstr>
      <vt:lpstr>Cycles</vt:lpstr>
      <vt:lpstr>Wheels</vt:lpstr>
      <vt:lpstr>Bipartite Graph</vt:lpstr>
      <vt:lpstr>Example</vt:lpstr>
      <vt:lpstr>Theorem</vt:lpstr>
      <vt:lpstr>Example</vt:lpstr>
      <vt:lpstr>Example</vt:lpstr>
      <vt:lpstr>Example</vt:lpstr>
      <vt:lpstr>Complete Bipartite Graphs</vt:lpstr>
      <vt:lpstr>Sub-graphs</vt:lpstr>
      <vt:lpstr>PowerPoint Presentation</vt:lpstr>
      <vt:lpstr>How to Represent a Graph?</vt:lpstr>
      <vt:lpstr>Adjacency List</vt:lpstr>
      <vt:lpstr>Adjacency Matrix</vt:lpstr>
      <vt:lpstr>Adjacency List for Directed Graph</vt:lpstr>
      <vt:lpstr>Adjacency Matrix for Directed Graph</vt:lpstr>
      <vt:lpstr>Example</vt:lpstr>
      <vt:lpstr>Example</vt:lpstr>
      <vt:lpstr>Incidence Matrix</vt:lpstr>
      <vt:lpstr>Example</vt:lpstr>
      <vt:lpstr>Example</vt:lpstr>
      <vt:lpstr>Path</vt:lpstr>
      <vt:lpstr>Path</vt:lpstr>
      <vt:lpstr>Graph Distance </vt:lpstr>
      <vt:lpstr>Eccentricity</vt:lpstr>
      <vt:lpstr>Example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CSC102 - Discrete Structures  (Discrete Mathematics) Fall 2012</dc:title>
  <dc:creator>Madiha</dc:creator>
  <cp:lastModifiedBy>user</cp:lastModifiedBy>
  <cp:revision>351</cp:revision>
  <cp:lastPrinted>2012-12-18T16:42:05Z</cp:lastPrinted>
  <dcterms:created xsi:type="dcterms:W3CDTF">2012-09-10T10:58:42Z</dcterms:created>
  <dcterms:modified xsi:type="dcterms:W3CDTF">2025-01-15T05:49:03Z</dcterms:modified>
</cp:coreProperties>
</file>