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7" r:id="rId3"/>
    <p:sldId id="259" r:id="rId4"/>
    <p:sldId id="260" r:id="rId5"/>
    <p:sldId id="261" r:id="rId6"/>
    <p:sldId id="262" r:id="rId7"/>
    <p:sldId id="289" r:id="rId8"/>
    <p:sldId id="264" r:id="rId9"/>
    <p:sldId id="265" r:id="rId10"/>
    <p:sldId id="290" r:id="rId11"/>
    <p:sldId id="266" r:id="rId12"/>
    <p:sldId id="291" r:id="rId13"/>
    <p:sldId id="267" r:id="rId14"/>
    <p:sldId id="292" r:id="rId15"/>
    <p:sldId id="268" r:id="rId16"/>
    <p:sldId id="269" r:id="rId17"/>
    <p:sldId id="270" r:id="rId18"/>
    <p:sldId id="271" r:id="rId19"/>
    <p:sldId id="287" r:id="rId20"/>
    <p:sldId id="272" r:id="rId21"/>
    <p:sldId id="273" r:id="rId22"/>
    <p:sldId id="274" r:id="rId23"/>
    <p:sldId id="275" r:id="rId24"/>
    <p:sldId id="276" r:id="rId25"/>
    <p:sldId id="286" r:id="rId26"/>
    <p:sldId id="277" r:id="rId27"/>
    <p:sldId id="278" r:id="rId28"/>
    <p:sldId id="279" r:id="rId29"/>
    <p:sldId id="283" r:id="rId30"/>
    <p:sldId id="280" r:id="rId31"/>
    <p:sldId id="284" r:id="rId32"/>
    <p:sldId id="282" r:id="rId33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CAEC4-2688-4F7D-8668-D709795E328E}" type="datetimeFigureOut">
              <a:rPr lang="en-US" smtClean="0"/>
              <a:t>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6021F-1E66-45B5-A4AE-B1769E02877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096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2763" y="0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0C500-55BD-403D-807A-A44A45C4FFC1}" type="datetimeFigureOut">
              <a:rPr lang="en-US" smtClean="0"/>
              <a:t>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28975"/>
            <a:ext cx="7899400" cy="3059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63"/>
            <a:ext cx="4278313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2763" y="6456363"/>
            <a:ext cx="42799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54F2-9E32-4CAD-9AF0-53BB9F4603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86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254F2-9E32-4CAD-9AF0-53BB9F46039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2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E6E0-1F0B-41FA-8E38-8E3F441DC8F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64B97-079D-4BF2-9948-5AF37A708326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82B36-4480-42FC-9ED4-B8E7E3DEBBA3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DAA4-BA9E-46A2-98F1-29E9652ACDD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0102-6138-49BD-A8A9-1669C9E3540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3B9DF-7824-4E25-98AE-02754F0A201E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6CAB-04ED-4F80-857D-11BF185FE2AB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CD664-7469-4EB2-8A2E-935A034EE279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1E93-0CF8-4D9C-A6BD-6D201C274CC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0A34B-86AE-4C0D-B941-620F41504608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3365-F800-442F-99E9-906A5E819222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6267DDCB-BC7B-4A8A-BA17-8BE7F787077D}" type="datetime1">
              <a:rPr lang="en-US" smtClean="0"/>
              <a:t>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503CD99-146E-4B12-A886-CB06D1FDEB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4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sz="3200" cap="none" dirty="0"/>
              <a:t/>
            </a:r>
            <a:br>
              <a:rPr lang="en-US" sz="3200" cap="none" dirty="0"/>
            </a:br>
            <a:r>
              <a:rPr lang="en-US" sz="3200" cap="none" dirty="0" smtClean="0"/>
              <a:t/>
            </a:r>
            <a:br>
              <a:rPr lang="en-US" sz="3200" cap="none" dirty="0" smtClean="0"/>
            </a:br>
            <a:r>
              <a:rPr lang="en-US" cap="none"/>
              <a:t/>
            </a:r>
            <a:br>
              <a:rPr lang="en-US" cap="none"/>
            </a:br>
            <a:r>
              <a:rPr lang="en-US" sz="3200" cap="none" smtClean="0">
                <a:solidFill>
                  <a:srgbClr val="C00000"/>
                </a:solidFill>
              </a:rPr>
              <a:t>Discrete </a:t>
            </a:r>
            <a:r>
              <a:rPr lang="en-US" sz="3200" cap="none" dirty="0">
                <a:solidFill>
                  <a:srgbClr val="C00000"/>
                </a:solidFill>
              </a:rPr>
              <a:t>Structures </a:t>
            </a:r>
            <a:br>
              <a:rPr lang="en-US" sz="3200" cap="none" dirty="0">
                <a:solidFill>
                  <a:srgbClr val="C00000"/>
                </a:solidFill>
              </a:rPr>
            </a:br>
            <a:r>
              <a:rPr lang="en-US" sz="3200" cap="none" dirty="0">
                <a:solidFill>
                  <a:srgbClr val="C00000"/>
                </a:solidFill>
              </a:rPr>
              <a:t>(Discrete Mathematics)</a:t>
            </a:r>
            <a:br>
              <a:rPr lang="en-US" sz="3200" cap="none" dirty="0">
                <a:solidFill>
                  <a:srgbClr val="C00000"/>
                </a:solidFill>
              </a:rPr>
            </a:b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8600" cy="2362200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</a:pPr>
            <a:endParaRPr lang="en-US" sz="1900" dirty="0">
              <a:solidFill>
                <a:schemeClr val="tx1"/>
              </a:solidFill>
            </a:endParaRPr>
          </a:p>
          <a:p>
            <a:pPr algn="ctr" fontAlgn="base">
              <a:spcAft>
                <a:spcPct val="0"/>
              </a:spcAft>
            </a:pPr>
            <a:r>
              <a:rPr lang="en-US" sz="1900" dirty="0">
                <a:solidFill>
                  <a:schemeClr val="tx1"/>
                </a:solidFill>
              </a:rPr>
              <a:t>Lecture </a:t>
            </a:r>
            <a:r>
              <a:rPr lang="en-US" sz="1900" dirty="0" smtClean="0">
                <a:solidFill>
                  <a:schemeClr val="tx1"/>
                </a:solidFill>
              </a:rPr>
              <a:t>-1 (of)</a:t>
            </a:r>
            <a:r>
              <a:rPr lang="en-US" sz="1900" dirty="0">
                <a:solidFill>
                  <a:schemeClr val="tx1"/>
                </a:solidFill>
              </a:rPr>
              <a:t/>
            </a:r>
            <a:br>
              <a:rPr lang="en-US" sz="1900" dirty="0">
                <a:solidFill>
                  <a:schemeClr val="tx1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</a:rPr>
              <a:t>Graphs </a:t>
            </a:r>
          </a:p>
          <a:p>
            <a:pPr algn="ctr" fontAlgn="base">
              <a:spcAft>
                <a:spcPct val="0"/>
              </a:spcAft>
            </a:pP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28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Clr>
                <a:schemeClr val="bg1">
                  <a:lumMod val="65000"/>
                </a:schemeClr>
              </a:buClr>
            </a:pPr>
            <a:r>
              <a:rPr lang="en-US" dirty="0"/>
              <a:t>What are graphs?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A class of discrete structures useful for representing relations among objects.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Vertices (nodes) connected by edges.</a:t>
            </a:r>
          </a:p>
          <a:p>
            <a:pPr marL="457200" lvl="3">
              <a:spcBef>
                <a:spcPct val="0"/>
              </a:spcBef>
              <a:buClr>
                <a:schemeClr val="bg1">
                  <a:lumMod val="65000"/>
                </a:schemeClr>
              </a:buClr>
              <a:buSzPct val="85000"/>
            </a:pPr>
            <a:r>
              <a:rPr lang="en-US" sz="2200" dirty="0"/>
              <a:t>Theory about graphs can be used to solve a lot of important problems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4279900"/>
            <a:ext cx="76200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082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 First Graph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>
              <a:defRPr/>
            </a:pPr>
            <a:r>
              <a:rPr lang="en-US" sz="2400" dirty="0"/>
              <a:t>The first graph theory paper by Leonhard</a:t>
            </a:r>
          </a:p>
          <a:p>
            <a:pPr marL="182880" lvl="1">
              <a:defRPr/>
            </a:pPr>
            <a:r>
              <a:rPr lang="en-US" sz="2400" dirty="0"/>
              <a:t>Euler in 1736: Seven bridges of </a:t>
            </a:r>
            <a:r>
              <a:rPr lang="en-US" sz="2400" dirty="0" err="1"/>
              <a:t>Königsberg</a:t>
            </a:r>
            <a:r>
              <a:rPr lang="en-US" sz="2400" dirty="0"/>
              <a:t>,</a:t>
            </a:r>
          </a:p>
          <a:p>
            <a:pPr marL="182880" lvl="1">
              <a:defRPr/>
            </a:pPr>
            <a:r>
              <a:rPr lang="en-US" sz="2400" dirty="0"/>
              <a:t>A town with 7 bridges and 4 pieces of land…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475" y="3141663"/>
            <a:ext cx="4294188" cy="338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125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 Origin of Graph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Clr>
                <a:schemeClr val="bg1">
                  <a:lumMod val="65000"/>
                </a:schemeClr>
              </a:buClr>
            </a:pPr>
            <a:r>
              <a:rPr lang="en-US" dirty="0"/>
              <a:t>Can we travel each bridge exactly once and return to the starting point?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20938"/>
            <a:ext cx="8066088" cy="390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924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Definition -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>
              <a:defRPr/>
            </a:pPr>
            <a:r>
              <a:rPr lang="en-US" sz="2400" dirty="0" smtClean="0"/>
              <a:t>A </a:t>
            </a:r>
            <a:r>
              <a:rPr lang="en-US" sz="2400" dirty="0"/>
              <a:t>graph G = (V, E) is defined by a set of vertices V , and a set of edges E consisting of ordered or unordered pairs of vertices from V.</a:t>
            </a:r>
          </a:p>
          <a:p>
            <a:pPr marL="182880" lvl="1">
              <a:defRPr/>
            </a:pPr>
            <a:r>
              <a:rPr lang="en-US" sz="2400" dirty="0"/>
              <a:t>Thus a graph G = (V, E)</a:t>
            </a:r>
          </a:p>
          <a:p>
            <a:pPr marL="457200" lvl="2">
              <a:defRPr/>
            </a:pPr>
            <a:r>
              <a:rPr lang="en-US" sz="2200" dirty="0"/>
              <a:t>V = set of vertices</a:t>
            </a:r>
          </a:p>
          <a:p>
            <a:pPr marL="457200" lvl="2">
              <a:defRPr/>
            </a:pPr>
            <a:r>
              <a:rPr lang="en-US" sz="2200" dirty="0"/>
              <a:t>E = set of edges = subset of V </a:t>
            </a:r>
            <a:r>
              <a:rPr lang="en-US" sz="2200" dirty="0">
                <a:sym typeface="Symbol" pitchFamily="18" charset="2"/>
              </a:rPr>
              <a:t></a:t>
            </a:r>
            <a:r>
              <a:rPr lang="en-US" sz="2200" dirty="0"/>
              <a:t> </a:t>
            </a:r>
            <a:r>
              <a:rPr lang="en-US" sz="2200" dirty="0" smtClean="0"/>
              <a:t>V</a:t>
            </a:r>
            <a:endParaRPr lang="en-US" sz="2200" dirty="0"/>
          </a:p>
          <a:p>
            <a:r>
              <a:rPr lang="en-US" dirty="0" smtClean="0"/>
              <a:t>Each edge has either one or two vertices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associated with it, called its endpoints.</a:t>
            </a:r>
            <a:endParaRPr lang="en-US" dirty="0"/>
          </a:p>
          <a:p>
            <a:r>
              <a:rPr lang="en-US" dirty="0" smtClean="0"/>
              <a:t>An edge is said to connect its endpoints.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153206"/>
            <a:ext cx="2133600" cy="1866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620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Simple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/>
            <a:r>
              <a:rPr lang="en-US" sz="2400" dirty="0"/>
              <a:t>A graph in which each edge connects two different vertices and where no two edges connect the same pair of </a:t>
            </a:r>
            <a:r>
              <a:rPr lang="en-US" sz="2400" dirty="0" smtClean="0"/>
              <a:t>vertices.</a:t>
            </a:r>
            <a:endParaRPr lang="en-US" sz="2400" dirty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852738"/>
            <a:ext cx="501015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345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24187"/>
            <a:ext cx="76200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10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Multigraph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6538" indent="-236538">
              <a:defRPr/>
            </a:pPr>
            <a:r>
              <a:rPr lang="en-US" dirty="0"/>
              <a:t>A multigraph: multiple edges </a:t>
            </a:r>
            <a:endParaRPr lang="en-US" dirty="0" smtClean="0"/>
          </a:p>
          <a:p>
            <a:pPr marL="0" indent="0">
              <a:buNone/>
              <a:defRPr/>
            </a:pPr>
            <a:r>
              <a:rPr lang="en-US" dirty="0" smtClean="0"/>
              <a:t>   </a:t>
            </a:r>
            <a:r>
              <a:rPr lang="en-US" sz="2400" dirty="0" smtClean="0"/>
              <a:t>connecting </a:t>
            </a:r>
            <a:r>
              <a:rPr lang="en-US" sz="2400" dirty="0"/>
              <a:t>the same </a:t>
            </a:r>
            <a:r>
              <a:rPr lang="en-US" sz="2400" dirty="0" smtClean="0"/>
              <a:t>nodes</a:t>
            </a:r>
          </a:p>
          <a:p>
            <a:pPr marL="236538" indent="-236538">
              <a:defRPr/>
            </a:pPr>
            <a:endParaRPr lang="en-US" sz="2400" dirty="0" smtClean="0"/>
          </a:p>
          <a:p>
            <a:pPr marL="236538" indent="-236538">
              <a:defRPr/>
            </a:pPr>
            <a:r>
              <a:rPr lang="en-US" sz="2400" dirty="0" smtClean="0"/>
              <a:t>E.g</a:t>
            </a:r>
            <a:r>
              <a:rPr lang="en-US" sz="2400" dirty="0"/>
              <a:t>., nodes are cities, edges </a:t>
            </a:r>
            <a:r>
              <a:rPr lang="en-US" dirty="0"/>
              <a:t> </a:t>
            </a:r>
            <a:r>
              <a:rPr lang="en-US" sz="2400" dirty="0" smtClean="0"/>
              <a:t>are </a:t>
            </a:r>
          </a:p>
          <a:p>
            <a:pPr marL="0" indent="0">
              <a:buNone/>
              <a:defRPr/>
            </a:pPr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sz="2400" dirty="0" smtClean="0"/>
              <a:t>segments </a:t>
            </a:r>
            <a:r>
              <a:rPr lang="en-US" sz="2400" dirty="0"/>
              <a:t>of major highways.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9200"/>
            <a:ext cx="2424112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149725"/>
            <a:ext cx="7200900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259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olidFill>
                  <a:srgbClr val="C00000"/>
                </a:solidFill>
              </a:rPr>
              <a:t>Pseudographs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lvl="1"/>
            <a:r>
              <a:rPr lang="en-US" sz="2400" dirty="0" err="1"/>
              <a:t>Pseudograph</a:t>
            </a:r>
            <a:r>
              <a:rPr lang="en-US" sz="2400" dirty="0"/>
              <a:t>: Like a multigraph, but edges connecting a node to itself are allowed.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52738"/>
            <a:ext cx="3024188" cy="269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0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71812"/>
            <a:ext cx="8153400" cy="210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582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lvl="1">
              <a:defRPr/>
            </a:pPr>
            <a:r>
              <a:rPr lang="en-US" sz="2400" dirty="0"/>
              <a:t>A directed graph </a:t>
            </a:r>
            <a:r>
              <a:rPr lang="en-US" sz="2400" dirty="0" smtClean="0"/>
              <a:t>(or digraph) (V,E</a:t>
            </a:r>
            <a:r>
              <a:rPr lang="en-US" sz="2400" dirty="0"/>
              <a:t>) consists of a set of vertices V and a set of directed edges E on V. E</a:t>
            </a:r>
            <a:r>
              <a:rPr lang="en-US" sz="2400" dirty="0" smtClean="0"/>
              <a:t>ach directed edge is associated with an ordered pair </a:t>
            </a:r>
            <a:r>
              <a:rPr lang="en-US" sz="2400" dirty="0"/>
              <a:t>of </a:t>
            </a:r>
            <a:r>
              <a:rPr lang="en-US" sz="2400" dirty="0" smtClean="0"/>
              <a:t>vertices. The directed edge associated with the ordered pair </a:t>
            </a:r>
            <a:r>
              <a:rPr lang="en-US" sz="2400" dirty="0"/>
              <a:t>(</a:t>
            </a:r>
            <a:r>
              <a:rPr lang="en-US" sz="2400" b="1" i="1" dirty="0" err="1"/>
              <a:t>u,v</a:t>
            </a:r>
            <a:r>
              <a:rPr lang="en-US" sz="2400" dirty="0" smtClean="0"/>
              <a:t>) is said to start at </a:t>
            </a:r>
            <a:r>
              <a:rPr lang="en-US" sz="2400" b="1" i="1" dirty="0" smtClean="0"/>
              <a:t>u</a:t>
            </a:r>
            <a:r>
              <a:rPr lang="en-US" sz="2400" dirty="0" smtClean="0"/>
              <a:t> and end at </a:t>
            </a:r>
            <a:r>
              <a:rPr lang="en-US" sz="2400" b="1" i="1" dirty="0" smtClean="0"/>
              <a:t>v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lvl="1" indent="0">
              <a:buNone/>
              <a:defRPr/>
            </a:pPr>
            <a:endParaRPr lang="en-US" sz="2400" dirty="0"/>
          </a:p>
          <a:p>
            <a:pPr marL="182880" lvl="1"/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57600"/>
            <a:ext cx="2590800" cy="250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96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143250"/>
            <a:ext cx="830580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82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Multigraphs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defRPr/>
            </a:pPr>
            <a:r>
              <a:rPr lang="en-US" sz="2400" dirty="0"/>
              <a:t>A directed multigraph has directed parallel edges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57463"/>
            <a:ext cx="2736850" cy="254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72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03" y="3124200"/>
            <a:ext cx="8563897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747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Types of Graphs: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Summary of the book’s definitions.</a:t>
            </a:r>
          </a:p>
          <a:p>
            <a:pPr marL="354013" lvl="1" indent="-342900">
              <a:defRPr/>
            </a:pPr>
            <a:r>
              <a:rPr lang="en-US" sz="2400" dirty="0"/>
              <a:t>Keep in mind this terminology is not fully standardized across different authors...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644900"/>
            <a:ext cx="8278813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680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 Models: Acquaintanceship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defRPr/>
            </a:pPr>
            <a:r>
              <a:rPr lang="en-US" sz="2400" dirty="0"/>
              <a:t>Represent whether two people know each other, that is, whether they are acquainted. </a:t>
            </a:r>
          </a:p>
          <a:p>
            <a:pPr marL="354013" lvl="1" indent="-342900">
              <a:defRPr/>
            </a:pPr>
            <a:r>
              <a:rPr lang="en-US" sz="2400" dirty="0"/>
              <a:t>Each person in a particular group of people is represented by a vertex. </a:t>
            </a:r>
          </a:p>
          <a:p>
            <a:pPr marL="354013" lvl="1" indent="-342900">
              <a:defRPr/>
            </a:pPr>
            <a:r>
              <a:rPr lang="en-US" sz="2400" dirty="0"/>
              <a:t>Undirected edge is used to connect two people when these people know each other.</a:t>
            </a:r>
          </a:p>
          <a:p>
            <a:pPr marL="354013" lvl="1" indent="-342900">
              <a:defRPr/>
            </a:pPr>
            <a:r>
              <a:rPr lang="en-US" sz="2400" dirty="0"/>
              <a:t>No multiple edges are used.</a:t>
            </a:r>
          </a:p>
          <a:p>
            <a:pPr marL="354013" lvl="1" indent="-342900">
              <a:defRPr/>
            </a:pPr>
            <a:r>
              <a:rPr lang="en-US" sz="2400" dirty="0"/>
              <a:t>Usually no loops are used. (If we want to include the notion of self-knowledge, we would include loops.)</a:t>
            </a:r>
          </a:p>
        </p:txBody>
      </p:sp>
    </p:spTree>
    <p:extLst>
      <p:ext uri="{BB962C8B-B14F-4D97-AF65-F5344CB8AC3E}">
        <p14:creationId xmlns:p14="http://schemas.microsoft.com/office/powerpoint/2010/main" val="94611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04975"/>
            <a:ext cx="8305800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61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An Influence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A </a:t>
            </a:r>
            <a:r>
              <a:rPr lang="en-US" sz="2400" dirty="0" smtClean="0"/>
              <a:t>directed </a:t>
            </a:r>
            <a:r>
              <a:rPr lang="en-US" sz="2400" dirty="0"/>
              <a:t>edge (a, b) means a can influence b.</a:t>
            </a:r>
          </a:p>
          <a:p>
            <a:pPr marL="354013" lvl="1" indent="-342900">
              <a:defRPr/>
            </a:pPr>
            <a:r>
              <a:rPr lang="en-US" sz="2400" dirty="0"/>
              <a:t>E.g. </a:t>
            </a:r>
            <a:r>
              <a:rPr lang="en-US" sz="2400" dirty="0" smtClean="0"/>
              <a:t>(Fred, Brian) </a:t>
            </a:r>
            <a:r>
              <a:rPr lang="en-US" sz="2400" dirty="0"/>
              <a:t>means </a:t>
            </a:r>
            <a:r>
              <a:rPr lang="en-US" sz="2400" dirty="0" smtClean="0"/>
              <a:t>Fred </a:t>
            </a:r>
            <a:r>
              <a:rPr lang="en-US" sz="2400" dirty="0"/>
              <a:t>can influence B</a:t>
            </a:r>
            <a:r>
              <a:rPr lang="en-US" sz="2400" dirty="0" smtClean="0"/>
              <a:t>rian.</a:t>
            </a:r>
            <a:endParaRPr lang="en-US" sz="24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141663"/>
            <a:ext cx="5608638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553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an influence graph for the board members of </a:t>
            </a:r>
            <a:r>
              <a:rPr lang="en-US" dirty="0" smtClean="0"/>
              <a:t>a company </a:t>
            </a:r>
            <a:r>
              <a:rPr lang="en-US" dirty="0"/>
              <a:t>if the </a:t>
            </a:r>
            <a:r>
              <a:rPr lang="en-US" dirty="0" smtClean="0">
                <a:solidFill>
                  <a:srgbClr val="C00000"/>
                </a:solidFill>
              </a:rPr>
              <a:t>President </a:t>
            </a:r>
            <a:r>
              <a:rPr lang="en-US" dirty="0" smtClean="0"/>
              <a:t>can </a:t>
            </a:r>
            <a:r>
              <a:rPr lang="en-US" dirty="0"/>
              <a:t>influence the </a:t>
            </a:r>
            <a:r>
              <a:rPr lang="en-US" dirty="0" smtClean="0">
                <a:solidFill>
                  <a:srgbClr val="C00000"/>
                </a:solidFill>
              </a:rPr>
              <a:t>Director of Research and Development, </a:t>
            </a:r>
            <a:r>
              <a:rPr lang="en-US" dirty="0" smtClean="0"/>
              <a:t>the</a:t>
            </a:r>
            <a:r>
              <a:rPr lang="en-US" dirty="0" smtClean="0">
                <a:solidFill>
                  <a:srgbClr val="C00000"/>
                </a:solidFill>
              </a:rPr>
              <a:t> Director of Marketing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/>
              <a:t>the</a:t>
            </a:r>
            <a:r>
              <a:rPr lang="en-US" dirty="0">
                <a:solidFill>
                  <a:srgbClr val="C00000"/>
                </a:solidFill>
              </a:rPr>
              <a:t> Director </a:t>
            </a:r>
            <a:r>
              <a:rPr lang="en-US" dirty="0" smtClean="0">
                <a:solidFill>
                  <a:srgbClr val="C00000"/>
                </a:solidFill>
              </a:rPr>
              <a:t>of Operations</a:t>
            </a:r>
            <a:r>
              <a:rPr lang="en-US" dirty="0" smtClean="0"/>
              <a:t>; the </a:t>
            </a:r>
            <a:r>
              <a:rPr lang="en-US" dirty="0">
                <a:solidFill>
                  <a:srgbClr val="C00000"/>
                </a:solidFill>
              </a:rPr>
              <a:t>Director of Research and Development </a:t>
            </a:r>
            <a:r>
              <a:rPr lang="en-US" dirty="0" smtClean="0"/>
              <a:t>can </a:t>
            </a:r>
            <a:r>
              <a:rPr lang="en-US" dirty="0"/>
              <a:t>influence the </a:t>
            </a:r>
            <a:r>
              <a:rPr lang="en-US" dirty="0">
                <a:solidFill>
                  <a:srgbClr val="C00000"/>
                </a:solidFill>
              </a:rPr>
              <a:t>Director of Operations</a:t>
            </a:r>
            <a:r>
              <a:rPr lang="en-US" dirty="0" smtClean="0"/>
              <a:t>; the </a:t>
            </a:r>
            <a:r>
              <a:rPr lang="en-US" dirty="0">
                <a:solidFill>
                  <a:srgbClr val="C00000"/>
                </a:solidFill>
              </a:rPr>
              <a:t>Director of Marketing </a:t>
            </a:r>
            <a:r>
              <a:rPr lang="en-US" dirty="0" smtClean="0"/>
              <a:t>can </a:t>
            </a:r>
            <a:r>
              <a:rPr lang="en-US" dirty="0"/>
              <a:t>influence the </a:t>
            </a:r>
            <a:r>
              <a:rPr lang="en-US" dirty="0">
                <a:solidFill>
                  <a:srgbClr val="C00000"/>
                </a:solidFill>
              </a:rPr>
              <a:t>Director of </a:t>
            </a:r>
            <a:r>
              <a:rPr lang="en-US" dirty="0" smtClean="0">
                <a:solidFill>
                  <a:srgbClr val="C00000"/>
                </a:solidFill>
              </a:rPr>
              <a:t>Operations</a:t>
            </a:r>
            <a:r>
              <a:rPr lang="en-US" dirty="0" smtClean="0"/>
              <a:t>; </a:t>
            </a:r>
            <a:r>
              <a:rPr lang="en-US" dirty="0"/>
              <a:t>and </a:t>
            </a:r>
            <a:r>
              <a:rPr lang="en-US" dirty="0" smtClean="0"/>
              <a:t>no one can influence, or be influenced by, the</a:t>
            </a:r>
            <a:r>
              <a:rPr lang="en-US" dirty="0" smtClean="0">
                <a:solidFill>
                  <a:srgbClr val="C00000"/>
                </a:solidFill>
              </a:rPr>
              <a:t> Chief Financial Officer.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1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Round Robin Tournaments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A tournament where each team plays each other team exactly once.</a:t>
            </a:r>
          </a:p>
          <a:p>
            <a:pPr marL="354013" lvl="1" indent="-342900">
              <a:defRPr/>
            </a:pPr>
            <a:r>
              <a:rPr lang="en-US" sz="2400" dirty="0"/>
              <a:t>Such tournaments can be modeled using directed graphs where each team is represented by a vertex. Note that (a, b) is an edge if team ‘a’ beats team ‘b’. This graph is a simple directed graph, containing no loops or multiple directed edges.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59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611868"/>
            <a:ext cx="90206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/>
              <a:t>Team 1 is undefeated in this tournament, and Team 3 is winless. </a:t>
            </a:r>
          </a:p>
          <a:p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133600"/>
            <a:ext cx="475297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420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Intersection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54013" lvl="1" indent="-342900">
                  <a:defRPr/>
                </a:pPr>
                <a:r>
                  <a:rPr lang="en-US" sz="2400" dirty="0"/>
                  <a:t>The intersection graph of a collections of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is the graph that has a vertex for each of these sets and has an edge connecting the vertices representing two sets if these sets have a non empty intersection.</a:t>
                </a:r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={0, 2, 4, 6, 8}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={0, 1, 2, 3, 4}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2400">
                        <a:latin typeface="Cambria Math"/>
                      </a:rPr>
                      <m:t>={1, 3, 5, 7, 9}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/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875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19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Graph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4013" lvl="1" indent="-342900">
              <a:defRPr/>
            </a:pPr>
            <a:r>
              <a:rPr lang="en-US" sz="2400" dirty="0" smtClean="0">
                <a:solidFill>
                  <a:schemeClr val="tx2"/>
                </a:solidFill>
              </a:rPr>
              <a:t>Adjacent:</a:t>
            </a:r>
            <a:endParaRPr lang="en-US" sz="2400" dirty="0">
              <a:solidFill>
                <a:schemeClr val="tx2"/>
              </a:solidFill>
            </a:endParaRPr>
          </a:p>
          <a:p>
            <a:pPr marL="285433" lvl="2" indent="0">
              <a:buNone/>
              <a:defRPr/>
            </a:pPr>
            <a:r>
              <a:rPr lang="en-US" sz="2200" dirty="0" smtClean="0"/>
              <a:t>Let </a:t>
            </a:r>
            <a:r>
              <a:rPr lang="en-US" sz="2200" dirty="0"/>
              <a:t>G be an undirected graph with edge set E. Let e ∈ E be (or map to) the pair {</a:t>
            </a:r>
            <a:r>
              <a:rPr lang="en-US" sz="2200" dirty="0" err="1"/>
              <a:t>u,v</a:t>
            </a:r>
            <a:r>
              <a:rPr lang="en-US" sz="2200" dirty="0" smtClean="0"/>
              <a:t>}. </a:t>
            </a:r>
            <a:r>
              <a:rPr lang="en-US" sz="2400" dirty="0" smtClean="0"/>
              <a:t>Then </a:t>
            </a:r>
            <a:r>
              <a:rPr lang="en-US" sz="2400" dirty="0"/>
              <a:t>we </a:t>
            </a:r>
            <a:r>
              <a:rPr lang="en-US" sz="2400" dirty="0" smtClean="0"/>
              <a:t>say:</a:t>
            </a:r>
          </a:p>
          <a:p>
            <a:pPr marL="285433" lvl="2" indent="0">
              <a:buNone/>
              <a:defRPr/>
            </a:pPr>
            <a:r>
              <a:rPr lang="en-US" sz="2400" dirty="0" smtClean="0"/>
              <a:t>u</a:t>
            </a:r>
            <a:r>
              <a:rPr lang="en-US" sz="2400" dirty="0"/>
              <a:t>, v are adjacent / neighbors / connected.</a:t>
            </a:r>
          </a:p>
          <a:p>
            <a:pPr marL="354013" lvl="1" indent="-342900">
              <a:defRPr/>
            </a:pPr>
            <a:r>
              <a:rPr lang="en-US" sz="2400" dirty="0"/>
              <a:t>Edge e is incident with vertices u and v.</a:t>
            </a:r>
          </a:p>
          <a:p>
            <a:pPr marL="354013" lvl="1" indent="-342900">
              <a:defRPr/>
            </a:pPr>
            <a:r>
              <a:rPr lang="en-US" sz="2400" dirty="0"/>
              <a:t>Edge e connects u and v.</a:t>
            </a:r>
          </a:p>
          <a:p>
            <a:pPr marL="354013" lvl="1" indent="-342900">
              <a:defRPr/>
            </a:pPr>
            <a:r>
              <a:rPr lang="en-US" sz="2400" dirty="0"/>
              <a:t>Vertices u and v are endpoints of edge 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38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Degree of a Vertex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Let G be an undirected graph, v ∈ V a vertex.</a:t>
            </a:r>
          </a:p>
          <a:p>
            <a:pPr marL="354013" lvl="1" indent="-342900">
              <a:defRPr/>
            </a:pPr>
            <a:r>
              <a:rPr lang="en-US" sz="2400" dirty="0"/>
              <a:t>The degree of v, </a:t>
            </a:r>
            <a:r>
              <a:rPr lang="en-US" sz="2400" dirty="0" err="1"/>
              <a:t>deg</a:t>
            </a:r>
            <a:r>
              <a:rPr lang="en-US" sz="2400" dirty="0"/>
              <a:t>(v), is its number of incident edges. (Except that any self-loops are counted twice.)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8" y="4005263"/>
            <a:ext cx="2936875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859338" y="3573463"/>
            <a:ext cx="41402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 err="1"/>
              <a:t>deg</a:t>
            </a:r>
            <a:r>
              <a:rPr lang="en-US" dirty="0"/>
              <a:t>(a) = 3</a:t>
            </a:r>
          </a:p>
          <a:p>
            <a:r>
              <a:rPr lang="en-US" dirty="0" err="1"/>
              <a:t>deg</a:t>
            </a:r>
            <a:r>
              <a:rPr lang="en-US" dirty="0"/>
              <a:t>(b) = 5</a:t>
            </a:r>
          </a:p>
          <a:p>
            <a:r>
              <a:rPr lang="en-US" dirty="0" err="1"/>
              <a:t>deg</a:t>
            </a:r>
            <a:r>
              <a:rPr lang="en-US" dirty="0"/>
              <a:t>(c) = 5</a:t>
            </a:r>
          </a:p>
          <a:p>
            <a:r>
              <a:rPr lang="en-US" dirty="0" err="1"/>
              <a:t>deg</a:t>
            </a:r>
            <a:r>
              <a:rPr lang="en-US" dirty="0"/>
              <a:t>(d) = 5</a:t>
            </a:r>
          </a:p>
          <a:p>
            <a:r>
              <a:rPr lang="en-US" dirty="0" err="1"/>
              <a:t>deg</a:t>
            </a:r>
            <a:r>
              <a:rPr lang="en-US" dirty="0"/>
              <a:t>(e) = 0 (isolated vertex)</a:t>
            </a:r>
          </a:p>
          <a:p>
            <a:endParaRPr lang="en-US" dirty="0"/>
          </a:p>
          <a:p>
            <a:r>
              <a:rPr lang="en-US" dirty="0" smtClean="0"/>
              <a:t>Pendant </a:t>
            </a:r>
            <a:r>
              <a:rPr lang="en-US" dirty="0"/>
              <a:t>vertex = with </a:t>
            </a:r>
            <a:r>
              <a:rPr lang="en-US" dirty="0" err="1"/>
              <a:t>deg</a:t>
            </a:r>
            <a:r>
              <a:rPr lang="en-US" dirty="0"/>
              <a:t> .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24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are the degrees </a:t>
            </a:r>
            <a:r>
              <a:rPr lang="en-US" dirty="0" smtClean="0"/>
              <a:t>of vertices of following graph?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How many edges are there in a graph with 10 vertices each of degree six?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09800"/>
            <a:ext cx="5181600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437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Handshaking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013" lvl="1" indent="-342900">
              <a:defRPr/>
            </a:pPr>
            <a:r>
              <a:rPr lang="en-US" sz="2400" dirty="0"/>
              <a:t>Let G be an undirected (simple, multi-, or pseudo-) graph with vertex set V and edge set E. Then 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339725" indent="-339725"/>
            <a:r>
              <a:rPr lang="en-US" dirty="0" err="1"/>
              <a:t>deg</a:t>
            </a:r>
            <a:r>
              <a:rPr lang="en-US" dirty="0"/>
              <a:t>(a)=3, </a:t>
            </a:r>
            <a:r>
              <a:rPr lang="en-US" dirty="0" err="1"/>
              <a:t>deg</a:t>
            </a:r>
            <a:r>
              <a:rPr lang="en-US" dirty="0"/>
              <a:t>(b)=5, </a:t>
            </a:r>
            <a:r>
              <a:rPr lang="en-US" dirty="0" err="1"/>
              <a:t>deg</a:t>
            </a:r>
            <a:r>
              <a:rPr lang="en-US" dirty="0"/>
              <a:t>(c)=5, </a:t>
            </a:r>
            <a:r>
              <a:rPr lang="en-US" dirty="0" err="1" smtClean="0"/>
              <a:t>deg</a:t>
            </a:r>
            <a:r>
              <a:rPr lang="en-US" dirty="0" smtClean="0"/>
              <a:t>(d</a:t>
            </a:r>
            <a:r>
              <a:rPr lang="en-US" dirty="0"/>
              <a:t>)=5, </a:t>
            </a:r>
            <a:r>
              <a:rPr lang="en-US" dirty="0" err="1"/>
              <a:t>deg</a:t>
            </a:r>
            <a:r>
              <a:rPr lang="en-US" dirty="0"/>
              <a:t>(e)=0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68538" y="2708275"/>
          <a:ext cx="27352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Equation" r:id="rId3" imgW="1002865" imgH="444307" progId="Equation.DSMT4">
                  <p:embed/>
                </p:oleObj>
              </mc:Choice>
              <mc:Fallback>
                <p:oleObj name="Equation" r:id="rId3" imgW="1002865" imgH="44430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708275"/>
                        <a:ext cx="2735262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30213" y="5013325"/>
          <a:ext cx="85344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Equation" r:id="rId5" imgW="4254500" imgH="457200" progId="Equation.3">
                  <p:embed/>
                </p:oleObj>
              </mc:Choice>
              <mc:Fallback>
                <p:oleObj name="Equation" r:id="rId5" imgW="42545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3" y="5013325"/>
                        <a:ext cx="85344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92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Handshaking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54013" lvl="1" indent="-342900">
                  <a:defRPr/>
                </a:pPr>
                <a:r>
                  <a:rPr lang="en-US" sz="2400" dirty="0" smtClean="0"/>
                  <a:t>Any undirected graph has an even number of vertices of odd degree.</a:t>
                </a:r>
                <a:endParaRPr lang="en-US" sz="2400" dirty="0">
                  <a:solidFill>
                    <a:schemeClr val="tx2"/>
                  </a:solidFill>
                </a:endParaRPr>
              </a:p>
              <a:p>
                <a:pPr marL="354013" lvl="1" indent="-342900">
                  <a:defRPr/>
                </a:pPr>
                <a:endParaRPr lang="en-US" sz="2400" dirty="0" smtClean="0"/>
              </a:p>
              <a:p>
                <a:pPr marL="354013" lvl="1" indent="-342900">
                  <a:defRPr/>
                </a:pPr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be the set of vertices of even and odd degrees respectively, in an undirected graph, then</a:t>
                </a:r>
              </a:p>
              <a:p>
                <a:pPr marL="354013" lvl="1" indent="-342900">
                  <a:defRPr/>
                </a:pPr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 smtClean="0"/>
              </a:p>
              <a:p>
                <a:pPr marL="11113" lvl="1" indent="0">
                  <a:buNone/>
                  <a:defRPr/>
                </a:pPr>
                <a:endParaRPr lang="en-US" sz="2400" dirty="0"/>
              </a:p>
              <a:p>
                <a:pPr marL="354013" lvl="1" indent="-342900">
                  <a:defRPr/>
                </a:pPr>
                <a:r>
                  <a:rPr lang="en-US" sz="2400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| has to be even.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963" t="-875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386886"/>
              </p:ext>
            </p:extLst>
          </p:nvPr>
        </p:nvGraphicFramePr>
        <p:xfrm>
          <a:off x="1035050" y="3810000"/>
          <a:ext cx="650875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Equation" r:id="rId4" imgW="2387520" imgH="457200" progId="Equation.DSMT4">
                  <p:embed/>
                </p:oleObj>
              </mc:Choice>
              <mc:Fallback>
                <p:oleObj name="Equation" r:id="rId4" imgW="238752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050" y="3810000"/>
                        <a:ext cx="6508750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600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Degree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54013" lvl="1" indent="-342900">
                  <a:defRPr/>
                </a:pPr>
                <a:r>
                  <a:rPr lang="en-US" sz="2400" dirty="0" smtClean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𝑢</m:t>
                    </m:r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r>
                      <a:rPr lang="en-US" sz="2400" b="0" i="1" smtClean="0">
                        <a:latin typeface="Cambria Math"/>
                      </a:rPr>
                      <m:t>𝑣</m:t>
                    </m:r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i="1" dirty="0" smtClean="0"/>
                  <a:t> </a:t>
                </a:r>
                <a:r>
                  <a:rPr lang="en-US" sz="2400" dirty="0" smtClean="0"/>
                  <a:t>is an edge of the graph G with directed edges,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𝑢</m:t>
                    </m:r>
                  </m:oMath>
                </a14:m>
                <a:r>
                  <a:rPr lang="en-US" sz="2400" dirty="0" smtClean="0"/>
                  <a:t> is said to be adjacent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 smtClean="0"/>
                  <a:t>. The vertex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𝑢</m:t>
                    </m:r>
                  </m:oMath>
                </a14:m>
                <a:r>
                  <a:rPr lang="en-US" sz="2400" dirty="0" smtClean="0"/>
                  <a:t> is called the initial vertex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𝑢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 smtClean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 smtClean="0"/>
                  <a:t> is called the terminal or end vertex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𝑢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2400" b="0" i="1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 marL="354013" lvl="1" indent="-342900">
                  <a:defRPr/>
                </a:pPr>
                <a:r>
                  <a:rPr lang="en-US" sz="2400" dirty="0" smtClean="0"/>
                  <a:t>The initial vertex and terminal vertex of a loop are the same.</a:t>
                </a: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6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Directed Degree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54013" lvl="1" indent="-342900">
                  <a:defRPr/>
                </a:pPr>
                <a:r>
                  <a:rPr lang="en-US" sz="2400" dirty="0" smtClean="0"/>
                  <a:t>Let G be a directed graph, v a vertex of G.</a:t>
                </a:r>
              </a:p>
              <a:p>
                <a:pPr marL="354013" lvl="1" indent="-342900">
                  <a:defRPr/>
                </a:pPr>
                <a:r>
                  <a:rPr lang="en-US" sz="2400" dirty="0"/>
                  <a:t>The in-degree of v,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−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</a:rPr>
                      <m:t>(</m:t>
                    </m:r>
                    <m:r>
                      <a:rPr lang="en-US" sz="2400" b="0" i="1" dirty="0" smtClean="0">
                        <a:latin typeface="Cambria Math"/>
                      </a:rPr>
                      <m:t>𝑣</m:t>
                    </m:r>
                    <m:r>
                      <a:rPr lang="en-US" sz="24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, is the number of edges </a:t>
                </a:r>
                <a:r>
                  <a:rPr lang="en-US" sz="2400" dirty="0" smtClean="0"/>
                  <a:t>with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 smtClean="0"/>
                  <a:t> as their terminal vertex.</a:t>
                </a:r>
                <a:endParaRPr lang="en-US" sz="2400" dirty="0"/>
              </a:p>
              <a:p>
                <a:pPr marL="354013" lvl="1" indent="-342900">
                  <a:defRPr/>
                </a:pPr>
                <a:r>
                  <a:rPr lang="en-US" sz="2400" dirty="0"/>
                  <a:t>The out-degree of v,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, is the number of edges with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𝑣</m:t>
                    </m:r>
                  </m:oMath>
                </a14:m>
                <a:r>
                  <a:rPr lang="en-US" sz="2400" dirty="0"/>
                  <a:t> as their </a:t>
                </a:r>
                <a:r>
                  <a:rPr lang="en-US" sz="2400" dirty="0" smtClean="0"/>
                  <a:t>initial </a:t>
                </a:r>
                <a:r>
                  <a:rPr lang="en-US" sz="2400" dirty="0"/>
                  <a:t>vertex. </a:t>
                </a:r>
              </a:p>
              <a:p>
                <a:pPr marL="354013" lvl="1" indent="-342900">
                  <a:defRPr/>
                </a:pPr>
                <a:r>
                  <a:rPr lang="en-US" sz="2400" dirty="0"/>
                  <a:t>The degree of v,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 smtClean="0">
                        <a:latin typeface="Cambria Math"/>
                      </a:rPr>
                      <m:t>deg</m:t>
                    </m:r>
                    <m:r>
                      <a:rPr lang="en-US" sz="2400" i="1" dirty="0" smtClean="0">
                        <a:latin typeface="Cambria Math"/>
                      </a:rPr>
                      <m:t>⁡(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):≡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2400" b="0" i="0" dirty="0" smtClean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r>
                      <a:rPr lang="en-US" sz="2400" i="1" dirty="0">
                        <a:latin typeface="Cambria Math"/>
                      </a:rPr>
                      <m:t>(</m:t>
                    </m:r>
                    <m:r>
                      <a:rPr lang="en-US" sz="2400" i="1" dirty="0">
                        <a:latin typeface="Cambria Math"/>
                      </a:rPr>
                      <m:t>𝑣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is the sum of v’s in-degree and out-degree</a:t>
                </a:r>
                <a:r>
                  <a:rPr lang="en-US" sz="2400" dirty="0" smtClean="0"/>
                  <a:t>.</a:t>
                </a:r>
                <a:endParaRPr lang="en-US" dirty="0"/>
              </a:p>
              <a:p>
                <a:pPr marL="354013" lvl="1" indent="-342900">
                  <a:defRPr/>
                </a:pPr>
                <a:r>
                  <a:rPr lang="en-US" sz="2400" dirty="0" smtClean="0"/>
                  <a:t>Loop at a vertex contributes 1 to both the in-degree and the out-degree of this vertex.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875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6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54013" lvl="1" indent="-342900">
                  <a:defRPr/>
                </a:pPr>
                <a:r>
                  <a:rPr lang="en-US" sz="2400" dirty="0"/>
                  <a:t>Determine in/out-degree of each node</a:t>
                </a:r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sz="2400" b="0" i="1" dirty="0" smtClean="0">
                        <a:latin typeface="Cambria Math"/>
                      </a:rPr>
                      <m:t>=4</m:t>
                    </m:r>
                  </m:oMath>
                </a14:m>
                <a:r>
                  <a:rPr lang="en-US" sz="2400" dirty="0" smtClean="0"/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/>
                          </a:rPr>
                          <m:t>𝑑</m:t>
                        </m:r>
                        <m:r>
                          <a:rPr lang="en-US" sz="2400" i="1" dirty="0">
                            <a:latin typeface="Cambria Math"/>
                          </a:rPr>
                          <m:t>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1</m:t>
                    </m:r>
                    <m:r>
                      <a:rPr lang="en-US" sz="2400" b="0" i="0" dirty="0" smtClean="0">
                        <a:latin typeface="Cambria Math"/>
                      </a:rPr>
                      <m:t>    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2</m:t>
                    </m:r>
                  </m:oMath>
                </a14:m>
                <a:endParaRPr lang="en-US" sz="2400" dirty="0" smtClean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𝑐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2</m:t>
                    </m:r>
                    <m:r>
                      <a:rPr lang="en-US" sz="2400" dirty="0">
                        <a:latin typeface="Cambria Math"/>
                      </a:rPr>
                      <m:t>   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𝑑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=2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sz="2400" dirty="0"/>
                  <a:t>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3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54013" lvl="1" indent="-342900"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0</m:t>
                    </m:r>
                    <m:r>
                      <a:rPr lang="en-US" sz="2400" b="0" i="0" dirty="0" smtClean="0">
                        <a:latin typeface="Cambria Math"/>
                      </a:rPr>
                      <m:t> </m:t>
                    </m:r>
                    <m:r>
                      <a:rPr lang="en-US" sz="2400" dirty="0">
                        <a:latin typeface="Cambria Math"/>
                      </a:rPr>
                      <m:t>    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/>
                          </a:rPr>
                          <m:t>𝑑𝑒𝑔</m:t>
                        </m:r>
                      </m:e>
                      <m:sup>
                        <m:r>
                          <a:rPr lang="en-US" sz="2400" i="1" dirty="0">
                            <a:latin typeface="Cambria Math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b="0" i="1" dirty="0" smtClean="0">
                        <a:latin typeface="Cambria Math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/>
              </a:p>
              <a:p>
                <a:pPr marL="354013" lvl="1" indent="-342900">
                  <a:defRPr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44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63937"/>
            <a:ext cx="4424363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0040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 smtClean="0"/>
              </a:p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G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i="1" dirty="0" smtClean="0"/>
                  <a:t> </a:t>
                </a:r>
                <a:r>
                  <a:rPr lang="en-US" dirty="0" smtClean="0"/>
                  <a:t>be a graph with directed edges then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071848"/>
              </p:ext>
            </p:extLst>
          </p:nvPr>
        </p:nvGraphicFramePr>
        <p:xfrm>
          <a:off x="1795463" y="3048000"/>
          <a:ext cx="498633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4" imgW="1828800" imgH="457200" progId="Equation.DSMT4">
                  <p:embed/>
                </p:oleObj>
              </mc:Choice>
              <mc:Fallback>
                <p:oleObj name="Equation" r:id="rId4" imgW="18288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3048000"/>
                        <a:ext cx="4986337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109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Chapter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Chapter # 10</a:t>
            </a:r>
          </a:p>
          <a:p>
            <a:r>
              <a:rPr lang="en-US" dirty="0" smtClean="0"/>
              <a:t>Topic # 10.1</a:t>
            </a:r>
          </a:p>
          <a:p>
            <a:r>
              <a:rPr lang="en-US" dirty="0" smtClean="0"/>
              <a:t>Q – 1,3,4,5,6,7,8,9,13,16,19,21,22</a:t>
            </a:r>
          </a:p>
          <a:p>
            <a:r>
              <a:rPr lang="en-US" dirty="0" smtClean="0"/>
              <a:t>Topic # 10.2</a:t>
            </a:r>
          </a:p>
          <a:p>
            <a:r>
              <a:rPr lang="en-US" dirty="0" smtClean="0"/>
              <a:t>Q -1,2,3,4,7,8,9,10,21,22,23,24,27</a:t>
            </a:r>
          </a:p>
          <a:p>
            <a:r>
              <a:rPr lang="en-US" dirty="0"/>
              <a:t>Topic # </a:t>
            </a:r>
            <a:r>
              <a:rPr lang="en-US" dirty="0" smtClean="0"/>
              <a:t>10.3</a:t>
            </a:r>
            <a:endParaRPr lang="en-US" dirty="0"/>
          </a:p>
          <a:p>
            <a:r>
              <a:rPr lang="en-US" dirty="0"/>
              <a:t>Q – </a:t>
            </a:r>
            <a:r>
              <a:rPr lang="en-US" dirty="0" smtClean="0"/>
              <a:t>1,2,3,4,5,6,7,8,10,11,12,13,14,15,16,17,18,19,20,21,</a:t>
            </a:r>
          </a:p>
          <a:p>
            <a:pPr marL="0" indent="0">
              <a:buNone/>
            </a:pPr>
            <a:r>
              <a:rPr lang="en-US" dirty="0" smtClean="0"/>
              <a:t>	22,23,24,26,27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53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17439</TotalTime>
  <Words>960</Words>
  <Application>Microsoft Office PowerPoint</Application>
  <PresentationFormat>On-screen Show (4:3)</PresentationFormat>
  <Paragraphs>138</Paragraphs>
  <Slides>32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Cambria Math</vt:lpstr>
      <vt:lpstr>Symbol</vt:lpstr>
      <vt:lpstr>Clarity</vt:lpstr>
      <vt:lpstr>Equation</vt:lpstr>
      <vt:lpstr>                              Discrete Structures  (Discrete Mathematics) </vt:lpstr>
      <vt:lpstr>Graphs</vt:lpstr>
      <vt:lpstr>The First Graph Theory</vt:lpstr>
      <vt:lpstr>The Origin of Graph Theory</vt:lpstr>
      <vt:lpstr>Definition - Graphs</vt:lpstr>
      <vt:lpstr>Simple Graphs</vt:lpstr>
      <vt:lpstr>Example</vt:lpstr>
      <vt:lpstr>Multigraph</vt:lpstr>
      <vt:lpstr>Pseudographs</vt:lpstr>
      <vt:lpstr>Example</vt:lpstr>
      <vt:lpstr>Directed Graphs</vt:lpstr>
      <vt:lpstr>Example</vt:lpstr>
      <vt:lpstr>Directed Multigraphs</vt:lpstr>
      <vt:lpstr>Example</vt:lpstr>
      <vt:lpstr>Types of Graphs: Summary</vt:lpstr>
      <vt:lpstr>Graph Models: Acquaintanceship Graph</vt:lpstr>
      <vt:lpstr>Example</vt:lpstr>
      <vt:lpstr>An Influence Graph</vt:lpstr>
      <vt:lpstr>Example</vt:lpstr>
      <vt:lpstr>Round Robin Tournaments</vt:lpstr>
      <vt:lpstr>Example</vt:lpstr>
      <vt:lpstr>Intersection Graph</vt:lpstr>
      <vt:lpstr>Graph Terminologies</vt:lpstr>
      <vt:lpstr>Degree of a Vertex</vt:lpstr>
      <vt:lpstr>Example</vt:lpstr>
      <vt:lpstr>Handshaking Theorem</vt:lpstr>
      <vt:lpstr>Handshaking Theorem</vt:lpstr>
      <vt:lpstr>Directed Degree</vt:lpstr>
      <vt:lpstr>Directed Degree</vt:lpstr>
      <vt:lpstr>Example</vt:lpstr>
      <vt:lpstr>Theorem</vt:lpstr>
      <vt:lpstr>Chapter Exercise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CSC102 - Discrete Structures  (Discrete Mathematics) Fall 2012</dc:title>
  <dc:creator>Madiha</dc:creator>
  <cp:lastModifiedBy>user</cp:lastModifiedBy>
  <cp:revision>328</cp:revision>
  <cp:lastPrinted>2012-12-18T16:41:46Z</cp:lastPrinted>
  <dcterms:created xsi:type="dcterms:W3CDTF">2012-09-10T10:58:42Z</dcterms:created>
  <dcterms:modified xsi:type="dcterms:W3CDTF">2025-01-15T05:48:42Z</dcterms:modified>
</cp:coreProperties>
</file>