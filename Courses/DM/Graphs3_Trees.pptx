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handoutMasterIdLst>
    <p:handoutMasterId r:id="rId39"/>
  </p:handoutMasterIdLst>
  <p:sldIdLst>
    <p:sldId id="256" r:id="rId2"/>
    <p:sldId id="291" r:id="rId3"/>
    <p:sldId id="293" r:id="rId4"/>
    <p:sldId id="294" r:id="rId5"/>
    <p:sldId id="295" r:id="rId6"/>
    <p:sldId id="257" r:id="rId7"/>
    <p:sldId id="280" r:id="rId8"/>
    <p:sldId id="296" r:id="rId9"/>
    <p:sldId id="281" r:id="rId10"/>
    <p:sldId id="272" r:id="rId11"/>
    <p:sldId id="273" r:id="rId12"/>
    <p:sldId id="274" r:id="rId13"/>
    <p:sldId id="275" r:id="rId14"/>
    <p:sldId id="276" r:id="rId15"/>
    <p:sldId id="285" r:id="rId16"/>
    <p:sldId id="286" r:id="rId17"/>
    <p:sldId id="287" r:id="rId18"/>
    <p:sldId id="284" r:id="rId19"/>
    <p:sldId id="297" r:id="rId20"/>
    <p:sldId id="258" r:id="rId21"/>
    <p:sldId id="259" r:id="rId22"/>
    <p:sldId id="260" r:id="rId23"/>
    <p:sldId id="262" r:id="rId24"/>
    <p:sldId id="263" r:id="rId25"/>
    <p:sldId id="264" r:id="rId26"/>
    <p:sldId id="265" r:id="rId27"/>
    <p:sldId id="267" r:id="rId28"/>
    <p:sldId id="266" r:id="rId29"/>
    <p:sldId id="268" r:id="rId30"/>
    <p:sldId id="277" r:id="rId31"/>
    <p:sldId id="282" r:id="rId32"/>
    <p:sldId id="283" r:id="rId33"/>
    <p:sldId id="298" r:id="rId34"/>
    <p:sldId id="288" r:id="rId35"/>
    <p:sldId id="289" r:id="rId36"/>
    <p:sldId id="271" r:id="rId37"/>
  </p:sldIdLst>
  <p:sldSz cx="9144000" cy="6858000" type="screen4x3"/>
  <p:notesSz cx="9874250"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70" d="100"/>
          <a:sy n="70" d="100"/>
        </p:scale>
        <p:origin x="74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9918" cy="339884"/>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592027" y="0"/>
            <a:ext cx="4279918" cy="339884"/>
          </a:xfrm>
          <a:prstGeom prst="rect">
            <a:avLst/>
          </a:prstGeom>
        </p:spPr>
        <p:txBody>
          <a:bodyPr vert="horz" lIns="91440" tIns="45720" rIns="91440" bIns="45720" rtlCol="0"/>
          <a:lstStyle>
            <a:lvl1pPr algn="r">
              <a:defRPr sz="1200"/>
            </a:lvl1pPr>
          </a:lstStyle>
          <a:p>
            <a:fld id="{265CAEC4-2688-4F7D-8668-D709795E328E}" type="datetimeFigureOut">
              <a:rPr lang="en-US" smtClean="0"/>
              <a:t>1/15/2025</a:t>
            </a:fld>
            <a:endParaRPr lang="en-US" dirty="0"/>
          </a:p>
        </p:txBody>
      </p:sp>
      <p:sp>
        <p:nvSpPr>
          <p:cNvPr id="4" name="Footer Placeholder 3"/>
          <p:cNvSpPr>
            <a:spLocks noGrp="1"/>
          </p:cNvSpPr>
          <p:nvPr>
            <p:ph type="ftr" sz="quarter" idx="2"/>
          </p:nvPr>
        </p:nvSpPr>
        <p:spPr>
          <a:xfrm>
            <a:off x="0" y="6456699"/>
            <a:ext cx="4279918" cy="339884"/>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592027" y="6456699"/>
            <a:ext cx="4279918" cy="339884"/>
          </a:xfrm>
          <a:prstGeom prst="rect">
            <a:avLst/>
          </a:prstGeom>
        </p:spPr>
        <p:txBody>
          <a:bodyPr vert="horz" lIns="91440" tIns="45720" rIns="91440" bIns="45720" rtlCol="0" anchor="b"/>
          <a:lstStyle>
            <a:lvl1pPr algn="r">
              <a:defRPr sz="1200"/>
            </a:lvl1pPr>
          </a:lstStyle>
          <a:p>
            <a:fld id="{DAD6021F-1E66-45B5-A4AE-B1769E02877D}" type="slidenum">
              <a:rPr lang="en-US" smtClean="0"/>
              <a:t>‹#›</a:t>
            </a:fld>
            <a:endParaRPr lang="en-US" dirty="0"/>
          </a:p>
        </p:txBody>
      </p:sp>
    </p:spTree>
    <p:extLst>
      <p:ext uri="{BB962C8B-B14F-4D97-AF65-F5344CB8AC3E}">
        <p14:creationId xmlns:p14="http://schemas.microsoft.com/office/powerpoint/2010/main" val="271700960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8313" cy="339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592763" y="0"/>
            <a:ext cx="4279900" cy="339725"/>
          </a:xfrm>
          <a:prstGeom prst="rect">
            <a:avLst/>
          </a:prstGeom>
        </p:spPr>
        <p:txBody>
          <a:bodyPr vert="horz" lIns="91440" tIns="45720" rIns="91440" bIns="45720" rtlCol="0"/>
          <a:lstStyle>
            <a:lvl1pPr algn="r">
              <a:defRPr sz="1200"/>
            </a:lvl1pPr>
          </a:lstStyle>
          <a:p>
            <a:fld id="{7D50C500-55BD-403D-807A-A44A45C4FFC1}" type="datetimeFigureOut">
              <a:rPr lang="en-US" smtClean="0"/>
              <a:t>1/15/2025</a:t>
            </a:fld>
            <a:endParaRPr lang="en-US" dirty="0"/>
          </a:p>
        </p:txBody>
      </p:sp>
      <p:sp>
        <p:nvSpPr>
          <p:cNvPr id="4" name="Slide Image Placeholder 3"/>
          <p:cNvSpPr>
            <a:spLocks noGrp="1" noRot="1" noChangeAspect="1"/>
          </p:cNvSpPr>
          <p:nvPr>
            <p:ph type="sldImg" idx="2"/>
          </p:nvPr>
        </p:nvSpPr>
        <p:spPr>
          <a:xfrm>
            <a:off x="3236913" y="509588"/>
            <a:ext cx="3400425" cy="25495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87425" y="3228975"/>
            <a:ext cx="7899400" cy="305911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456363"/>
            <a:ext cx="4278313" cy="339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592763" y="6456363"/>
            <a:ext cx="4279900" cy="339725"/>
          </a:xfrm>
          <a:prstGeom prst="rect">
            <a:avLst/>
          </a:prstGeom>
        </p:spPr>
        <p:txBody>
          <a:bodyPr vert="horz" lIns="91440" tIns="45720" rIns="91440" bIns="45720" rtlCol="0" anchor="b"/>
          <a:lstStyle>
            <a:lvl1pPr algn="r">
              <a:defRPr sz="1200"/>
            </a:lvl1pPr>
          </a:lstStyle>
          <a:p>
            <a:fld id="{E36254F2-9E32-4CAD-9AF0-53BB9F460393}" type="slidenum">
              <a:rPr lang="en-US" smtClean="0"/>
              <a:t>‹#›</a:t>
            </a:fld>
            <a:endParaRPr lang="en-US" dirty="0"/>
          </a:p>
        </p:txBody>
      </p:sp>
    </p:spTree>
    <p:extLst>
      <p:ext uri="{BB962C8B-B14F-4D97-AF65-F5344CB8AC3E}">
        <p14:creationId xmlns:p14="http://schemas.microsoft.com/office/powerpoint/2010/main" val="156978635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6254F2-9E32-4CAD-9AF0-53BB9F460393}" type="slidenum">
              <a:rPr lang="en-US" smtClean="0"/>
              <a:t>1</a:t>
            </a:fld>
            <a:endParaRPr lang="en-US" dirty="0"/>
          </a:p>
        </p:txBody>
      </p:sp>
      <p:sp>
        <p:nvSpPr>
          <p:cNvPr id="5" name="Header Placeholder 4"/>
          <p:cNvSpPr>
            <a:spLocks noGrp="1"/>
          </p:cNvSpPr>
          <p:nvPr>
            <p:ph type="hdr" sz="quarter" idx="11"/>
          </p:nvPr>
        </p:nvSpPr>
        <p:spPr/>
        <p:txBody>
          <a:bodyPr/>
          <a:lstStyle/>
          <a:p>
            <a:endParaRPr lang="en-US" dirty="0"/>
          </a:p>
        </p:txBody>
      </p:sp>
    </p:spTree>
    <p:extLst>
      <p:ext uri="{BB962C8B-B14F-4D97-AF65-F5344CB8AC3E}">
        <p14:creationId xmlns:p14="http://schemas.microsoft.com/office/powerpoint/2010/main" val="1143923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6254F2-9E32-4CAD-9AF0-53BB9F460393}" type="slidenum">
              <a:rPr lang="en-US" smtClean="0"/>
              <a:t>26</a:t>
            </a:fld>
            <a:endParaRPr lang="en-US" dirty="0"/>
          </a:p>
        </p:txBody>
      </p:sp>
      <p:sp>
        <p:nvSpPr>
          <p:cNvPr id="5" name="Header Placeholder 4"/>
          <p:cNvSpPr>
            <a:spLocks noGrp="1"/>
          </p:cNvSpPr>
          <p:nvPr>
            <p:ph type="hdr" sz="quarter" idx="11"/>
          </p:nvPr>
        </p:nvSpPr>
        <p:spPr/>
        <p:txBody>
          <a:bodyPr/>
          <a:lstStyle/>
          <a:p>
            <a:endParaRPr lang="en-US" dirty="0"/>
          </a:p>
        </p:txBody>
      </p:sp>
    </p:spTree>
    <p:extLst>
      <p:ext uri="{BB962C8B-B14F-4D97-AF65-F5344CB8AC3E}">
        <p14:creationId xmlns:p14="http://schemas.microsoft.com/office/powerpoint/2010/main" val="3524587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6254F2-9E32-4CAD-9AF0-53BB9F460393}" type="slidenum">
              <a:rPr lang="en-US" smtClean="0"/>
              <a:t>36</a:t>
            </a:fld>
            <a:endParaRPr lang="en-US" dirty="0"/>
          </a:p>
        </p:txBody>
      </p:sp>
      <p:sp>
        <p:nvSpPr>
          <p:cNvPr id="5" name="Header Placeholder 4"/>
          <p:cNvSpPr>
            <a:spLocks noGrp="1"/>
          </p:cNvSpPr>
          <p:nvPr>
            <p:ph type="hdr" sz="quarter" idx="11"/>
          </p:nvPr>
        </p:nvSpPr>
        <p:spPr/>
        <p:txBody>
          <a:bodyPr/>
          <a:lstStyle/>
          <a:p>
            <a:endParaRPr lang="en-US" dirty="0"/>
          </a:p>
        </p:txBody>
      </p:sp>
    </p:spTree>
    <p:extLst>
      <p:ext uri="{BB962C8B-B14F-4D97-AF65-F5344CB8AC3E}">
        <p14:creationId xmlns:p14="http://schemas.microsoft.com/office/powerpoint/2010/main" val="618093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ADF03-14AB-47D1-87FB-81F5318153B8}"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E3BE56-5F0E-45D3-BE48-7C5D0CC0A14B}"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B2A475-1A3B-4AF2-9164-8FEF76400084}"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AD4A09E-9529-474E-A920-9BDABA0DFAB4}"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25D4D3B-A7F9-4B14-936A-4641F25086A2}" type="datetime1">
              <a:rPr lang="en-US" smtClean="0"/>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03CD99-146E-4B12-A886-CB06D1FDEB82}"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C05FF-6FB0-487C-AF4E-FC2DAC424A6B}" type="datetime1">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2BF9E-BAD5-4936-9E85-526B6B165FD7}" type="datetime1">
              <a:rPr lang="en-US" smtClean="0"/>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D0C8FA-FCF6-4F1E-A7D0-73B074350A69}"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7E46A1-6644-49A6-BBA1-53B13181667E}"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C1B2E9-B839-48D6-A2CB-04A111E91331}"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6ED836-7B70-496B-A64E-47EEEB7B9984}"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A8D8243F-0EBC-4F0E-9F2A-FF89B4A7019F}" type="datetime1">
              <a:rPr lang="en-US" smtClean="0"/>
              <a:t>1/15/2025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D503CD99-146E-4B12-A886-CB06D1FDEB8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sz="3200" cap="none" dirty="0"/>
              <a:t/>
            </a:r>
            <a:br>
              <a:rPr lang="en-US" sz="3200" cap="none" dirty="0"/>
            </a:br>
            <a:r>
              <a:rPr lang="en-US" sz="3200" cap="none" dirty="0" smtClean="0"/>
              <a:t/>
            </a:r>
            <a:br>
              <a:rPr lang="en-US" sz="3200" cap="none" dirty="0" smtClean="0"/>
            </a:br>
            <a:r>
              <a:rPr lang="en-US" cap="none" dirty="0"/>
              <a:t/>
            </a:r>
            <a:br>
              <a:rPr lang="en-US" cap="none" dirty="0"/>
            </a:br>
            <a:r>
              <a:rPr lang="en-US" sz="3200" cap="none" dirty="0" smtClean="0">
                <a:solidFill>
                  <a:srgbClr val="C00000"/>
                </a:solidFill>
              </a:rPr>
              <a:t>CSD101 </a:t>
            </a:r>
            <a:r>
              <a:rPr lang="en-US" sz="3200" cap="none" dirty="0">
                <a:solidFill>
                  <a:srgbClr val="C00000"/>
                </a:solidFill>
              </a:rPr>
              <a:t>- Discrete Structures </a:t>
            </a:r>
            <a:br>
              <a:rPr lang="en-US" sz="3200" cap="none" dirty="0">
                <a:solidFill>
                  <a:srgbClr val="C00000"/>
                </a:solidFill>
              </a:rPr>
            </a:br>
            <a:r>
              <a:rPr lang="en-US" sz="3200" cap="none" dirty="0">
                <a:solidFill>
                  <a:srgbClr val="C00000"/>
                </a:solidFill>
              </a:rPr>
              <a:t>(Discrete Mathematics)</a:t>
            </a:r>
            <a:br>
              <a:rPr lang="en-US" sz="3200" cap="none" dirty="0">
                <a:solidFill>
                  <a:srgbClr val="C00000"/>
                </a:solidFill>
              </a:rPr>
            </a:br>
            <a:r>
              <a:rPr lang="en-US" sz="3200" cap="none" dirty="0" smtClean="0">
                <a:solidFill>
                  <a:srgbClr val="C00000"/>
                </a:solidFill>
              </a:rPr>
              <a:t>Fall 2016</a:t>
            </a:r>
            <a:endParaRPr lang="en-US" sz="3200" dirty="0">
              <a:solidFill>
                <a:srgbClr val="C00000"/>
              </a:solidFill>
            </a:endParaRPr>
          </a:p>
        </p:txBody>
      </p:sp>
      <p:sp>
        <p:nvSpPr>
          <p:cNvPr id="3" name="Subtitle 2"/>
          <p:cNvSpPr>
            <a:spLocks noGrp="1"/>
          </p:cNvSpPr>
          <p:nvPr>
            <p:ph type="subTitle" idx="1"/>
          </p:nvPr>
        </p:nvSpPr>
        <p:spPr>
          <a:xfrm>
            <a:off x="685800" y="3505200"/>
            <a:ext cx="7848600" cy="2362200"/>
          </a:xfrm>
        </p:spPr>
        <p:txBody>
          <a:bodyPr>
            <a:normAutofit/>
          </a:bodyPr>
          <a:lstStyle/>
          <a:p>
            <a:pPr algn="ctr" fontAlgn="base">
              <a:spcAft>
                <a:spcPct val="0"/>
              </a:spcAft>
            </a:pPr>
            <a:endParaRPr lang="en-US" sz="1900" dirty="0">
              <a:solidFill>
                <a:schemeClr val="tx1"/>
              </a:solidFill>
            </a:endParaRPr>
          </a:p>
          <a:p>
            <a:pPr algn="ctr" fontAlgn="base">
              <a:spcAft>
                <a:spcPct val="0"/>
              </a:spcAft>
            </a:pPr>
            <a:r>
              <a:rPr lang="en-US" sz="1900" dirty="0">
                <a:solidFill>
                  <a:schemeClr val="tx1"/>
                </a:solidFill>
              </a:rPr>
              <a:t>Lecture </a:t>
            </a:r>
            <a:r>
              <a:rPr lang="en-US" sz="1900" dirty="0" smtClean="0">
                <a:solidFill>
                  <a:schemeClr val="tx1"/>
                </a:solidFill>
              </a:rPr>
              <a:t>– </a:t>
            </a:r>
            <a:r>
              <a:rPr lang="en-US" sz="1900" dirty="0" smtClean="0">
                <a:solidFill>
                  <a:schemeClr val="tx1"/>
                </a:solidFill>
              </a:rPr>
              <a:t>3 (of) </a:t>
            </a:r>
            <a:r>
              <a:rPr lang="en-US" sz="1900" dirty="0">
                <a:solidFill>
                  <a:schemeClr val="tx1"/>
                </a:solidFill>
              </a:rPr>
              <a:t/>
            </a:r>
            <a:br>
              <a:rPr lang="en-US" sz="1900" dirty="0">
                <a:solidFill>
                  <a:schemeClr val="tx1"/>
                </a:solidFill>
              </a:rPr>
            </a:br>
            <a:r>
              <a:rPr lang="en-US" sz="3200" dirty="0" smtClean="0">
                <a:solidFill>
                  <a:schemeClr val="tx1"/>
                </a:solidFill>
              </a:rPr>
              <a:t>graphs</a:t>
            </a:r>
          </a:p>
          <a:p>
            <a:pPr algn="ctr" fontAlgn="base">
              <a:spcAft>
                <a:spcPct val="0"/>
              </a:spcAft>
            </a:pPr>
            <a:r>
              <a:rPr lang="en-US" sz="3200" dirty="0" smtClean="0">
                <a:solidFill>
                  <a:schemeClr val="tx1"/>
                </a:solidFill>
              </a:rPr>
              <a:t> </a:t>
            </a:r>
          </a:p>
          <a:p>
            <a:pPr algn="just" fontAlgn="base">
              <a:spcAft>
                <a:spcPct val="0"/>
              </a:spcAft>
            </a:pPr>
            <a:r>
              <a:rPr lang="en-US" sz="2800" b="1" dirty="0" smtClean="0">
                <a:solidFill>
                  <a:srgbClr val="002060"/>
                </a:solidFill>
              </a:rPr>
              <a:t>Topic: T</a:t>
            </a:r>
            <a:r>
              <a:rPr lang="en-US" sz="2800" b="1" dirty="0" smtClean="0">
                <a:solidFill>
                  <a:srgbClr val="002060"/>
                </a:solidFill>
              </a:rPr>
              <a:t>rees</a:t>
            </a:r>
            <a:endParaRPr lang="en-US" sz="2800" b="1" dirty="0" smtClean="0">
              <a:solidFill>
                <a:srgbClr val="002060"/>
              </a:solidFill>
            </a:endParaRPr>
          </a:p>
          <a:p>
            <a:pPr algn="ctr" fontAlgn="base">
              <a:spcAft>
                <a:spcPct val="0"/>
              </a:spcAft>
            </a:pPr>
            <a:endParaRPr lang="en-US" sz="3200" dirty="0">
              <a:solidFill>
                <a:schemeClr val="tx1"/>
              </a:solidFill>
            </a:endParaRPr>
          </a:p>
        </p:txBody>
      </p:sp>
    </p:spTree>
    <p:extLst>
      <p:ext uri="{BB962C8B-B14F-4D97-AF65-F5344CB8AC3E}">
        <p14:creationId xmlns:p14="http://schemas.microsoft.com/office/powerpoint/2010/main" val="15072810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Path</a:t>
            </a:r>
          </a:p>
        </p:txBody>
      </p:sp>
      <p:sp>
        <p:nvSpPr>
          <p:cNvPr id="3" name="Content Placeholder 2"/>
          <p:cNvSpPr>
            <a:spLocks noGrp="1"/>
          </p:cNvSpPr>
          <p:nvPr>
            <p:ph idx="1"/>
          </p:nvPr>
        </p:nvSpPr>
        <p:spPr>
          <a:xfrm>
            <a:off x="443552" y="1752600"/>
            <a:ext cx="8229600" cy="4876800"/>
          </a:xfrm>
        </p:spPr>
        <p:txBody>
          <a:bodyPr/>
          <a:lstStyle/>
          <a:p>
            <a:r>
              <a:rPr lang="en-US" dirty="0"/>
              <a:t>A </a:t>
            </a:r>
            <a:r>
              <a:rPr lang="en-US" b="1" dirty="0"/>
              <a:t>path </a:t>
            </a:r>
            <a:r>
              <a:rPr lang="en-US" dirty="0"/>
              <a:t>is a sequence of edges that begins at a vertex of a graph and travels from vertex to vertex along edges of the graph. </a:t>
            </a:r>
          </a:p>
          <a:p>
            <a:endParaRPr lang="en-US" dirty="0" smtClean="0"/>
          </a:p>
          <a:p>
            <a:endParaRPr lang="en-US" dirty="0"/>
          </a:p>
          <a:p>
            <a:endParaRPr lang="en-US" dirty="0" smtClean="0"/>
          </a:p>
          <a:p>
            <a:endParaRPr lang="en-US" dirty="0"/>
          </a:p>
          <a:p>
            <a:endParaRPr lang="en-US" dirty="0" smtClean="0"/>
          </a:p>
          <a:p>
            <a:endParaRPr lang="en-US" dirty="0"/>
          </a:p>
          <a:p>
            <a:pPr marL="0" indent="0">
              <a:buNone/>
            </a:pPr>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283" t="59115" r="54026" b="22461"/>
          <a:stretch/>
        </p:blipFill>
        <p:spPr bwMode="auto">
          <a:xfrm>
            <a:off x="2438400" y="2743200"/>
            <a:ext cx="3733800" cy="231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D503CD99-146E-4B12-A886-CB06D1FDEB82}" type="slidenum">
              <a:rPr lang="en-US" smtClean="0"/>
              <a:t>2</a:t>
            </a:fld>
            <a:endParaRPr lang="en-US" dirty="0"/>
          </a:p>
        </p:txBody>
      </p:sp>
    </p:spTree>
    <p:extLst>
      <p:ext uri="{BB962C8B-B14F-4D97-AF65-F5344CB8AC3E}">
        <p14:creationId xmlns:p14="http://schemas.microsoft.com/office/powerpoint/2010/main" val="251732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Circuit</a:t>
            </a:r>
          </a:p>
        </p:txBody>
      </p:sp>
      <p:sp>
        <p:nvSpPr>
          <p:cNvPr id="3" name="Content Placeholder 2"/>
          <p:cNvSpPr>
            <a:spLocks noGrp="1"/>
          </p:cNvSpPr>
          <p:nvPr>
            <p:ph idx="1"/>
          </p:nvPr>
        </p:nvSpPr>
        <p:spPr/>
        <p:txBody>
          <a:bodyPr/>
          <a:lstStyle/>
          <a:p>
            <a:r>
              <a:rPr lang="en-US" dirty="0"/>
              <a:t>The path is a </a:t>
            </a:r>
            <a:r>
              <a:rPr lang="en-US" b="1" i="1" dirty="0"/>
              <a:t>circuit</a:t>
            </a:r>
            <a:r>
              <a:rPr lang="en-US" i="1" dirty="0"/>
              <a:t> </a:t>
            </a:r>
            <a:r>
              <a:rPr lang="en-US" dirty="0"/>
              <a:t>if it begins and ends at the same </a:t>
            </a:r>
            <a:r>
              <a:rPr lang="en-US" dirty="0" smtClean="0"/>
              <a:t>vertex.</a:t>
            </a:r>
          </a:p>
          <a:p>
            <a:endParaRPr lang="en-US" dirty="0" smtClean="0"/>
          </a:p>
          <a:p>
            <a:endParaRPr lang="en-US" dirty="0"/>
          </a:p>
          <a:p>
            <a:endParaRPr lang="en-US" dirty="0" smtClean="0"/>
          </a:p>
          <a:p>
            <a:endParaRPr lang="en-US" dirty="0"/>
          </a:p>
          <a:p>
            <a:endParaRPr lang="en-US" dirty="0" smtClean="0"/>
          </a:p>
          <a:p>
            <a:r>
              <a:rPr lang="en-US" dirty="0"/>
              <a:t>Path </a:t>
            </a:r>
            <a:r>
              <a:rPr lang="en-US" b="1" i="1" dirty="0"/>
              <a:t>a, b, c, d, a</a:t>
            </a:r>
            <a:r>
              <a:rPr lang="en-US" dirty="0"/>
              <a:t> is a circuit. </a:t>
            </a:r>
          </a:p>
          <a:p>
            <a:endParaRPr lang="en-US" dirty="0"/>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283" t="59115" r="54026" b="22461"/>
          <a:stretch/>
        </p:blipFill>
        <p:spPr bwMode="auto">
          <a:xfrm>
            <a:off x="2705100" y="2270471"/>
            <a:ext cx="3733800" cy="231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3</a:t>
            </a:fld>
            <a:endParaRPr lang="en-US" dirty="0"/>
          </a:p>
        </p:txBody>
      </p:sp>
    </p:spTree>
    <p:extLst>
      <p:ext uri="{BB962C8B-B14F-4D97-AF65-F5344CB8AC3E}">
        <p14:creationId xmlns:p14="http://schemas.microsoft.com/office/powerpoint/2010/main" val="1331740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Connected Graph</a:t>
            </a:r>
          </a:p>
        </p:txBody>
      </p:sp>
      <p:sp>
        <p:nvSpPr>
          <p:cNvPr id="3" name="Content Placeholder 2"/>
          <p:cNvSpPr>
            <a:spLocks noGrp="1"/>
          </p:cNvSpPr>
          <p:nvPr>
            <p:ph idx="1"/>
          </p:nvPr>
        </p:nvSpPr>
        <p:spPr/>
        <p:txBody>
          <a:bodyPr/>
          <a:lstStyle/>
          <a:p>
            <a:r>
              <a:rPr lang="en-US" dirty="0"/>
              <a:t>An undirected graph is called </a:t>
            </a:r>
            <a:r>
              <a:rPr lang="en-US" b="1" i="1" dirty="0"/>
              <a:t>connected</a:t>
            </a:r>
            <a:r>
              <a:rPr lang="en-US" i="1" dirty="0"/>
              <a:t> </a:t>
            </a:r>
            <a:r>
              <a:rPr lang="en-US" dirty="0"/>
              <a:t>if there is a path between every pair of distinct vertices of the graph.</a:t>
            </a:r>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5915" t="47396" r="48609" b="20573"/>
          <a:stretch/>
        </p:blipFill>
        <p:spPr bwMode="auto">
          <a:xfrm>
            <a:off x="2133600" y="2609850"/>
            <a:ext cx="495300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4</a:t>
            </a:fld>
            <a:endParaRPr lang="en-US" dirty="0"/>
          </a:p>
        </p:txBody>
      </p:sp>
    </p:spTree>
    <p:extLst>
      <p:ext uri="{BB962C8B-B14F-4D97-AF65-F5344CB8AC3E}">
        <p14:creationId xmlns:p14="http://schemas.microsoft.com/office/powerpoint/2010/main" val="4278199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Connected Graph</a:t>
            </a:r>
          </a:p>
        </p:txBody>
      </p:sp>
      <p:sp>
        <p:nvSpPr>
          <p:cNvPr id="3" name="Content Placeholder 2"/>
          <p:cNvSpPr>
            <a:spLocks noGrp="1"/>
          </p:cNvSpPr>
          <p:nvPr>
            <p:ph idx="1"/>
          </p:nvPr>
        </p:nvSpPr>
        <p:spPr/>
        <p:txBody>
          <a:bodyPr/>
          <a:lstStyle/>
          <a:p>
            <a:pPr marL="457200" indent="-457200"/>
            <a:r>
              <a:rPr lang="en-US" dirty="0"/>
              <a:t>The graph </a:t>
            </a:r>
            <a:r>
              <a:rPr lang="en-US" b="1" i="1" dirty="0"/>
              <a:t>G</a:t>
            </a:r>
            <a:r>
              <a:rPr lang="en-US" b="1" dirty="0"/>
              <a:t>1</a:t>
            </a:r>
            <a:r>
              <a:rPr lang="en-US" dirty="0"/>
              <a:t> is connected.</a:t>
            </a:r>
          </a:p>
          <a:p>
            <a:pPr marL="457200" indent="-457200"/>
            <a:r>
              <a:rPr lang="en-US" dirty="0"/>
              <a:t>The graph </a:t>
            </a:r>
            <a:r>
              <a:rPr lang="en-US" b="1" i="1" dirty="0"/>
              <a:t>G</a:t>
            </a:r>
            <a:r>
              <a:rPr lang="en-US" b="1" dirty="0"/>
              <a:t>2</a:t>
            </a:r>
            <a:r>
              <a:rPr lang="en-US" dirty="0"/>
              <a:t> is not connected. (For instance, there is no path in </a:t>
            </a:r>
            <a:r>
              <a:rPr lang="en-US" i="1" dirty="0"/>
              <a:t>G</a:t>
            </a:r>
            <a:r>
              <a:rPr lang="en-US" dirty="0"/>
              <a:t>2 between vertices </a:t>
            </a:r>
            <a:r>
              <a:rPr lang="en-US" i="1" dirty="0"/>
              <a:t>a </a:t>
            </a:r>
            <a:r>
              <a:rPr lang="en-US" dirty="0"/>
              <a:t>and </a:t>
            </a:r>
            <a:r>
              <a:rPr lang="en-US" i="1" dirty="0"/>
              <a:t>d</a:t>
            </a:r>
            <a:r>
              <a:rPr lang="en-US" dirty="0"/>
              <a:t>.)</a:t>
            </a:r>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5915" t="47396" r="48609" b="20573"/>
          <a:stretch/>
        </p:blipFill>
        <p:spPr bwMode="auto">
          <a:xfrm>
            <a:off x="2133600" y="2990850"/>
            <a:ext cx="495300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5</a:t>
            </a:fld>
            <a:endParaRPr lang="en-US" dirty="0"/>
          </a:p>
        </p:txBody>
      </p:sp>
    </p:spTree>
    <p:extLst>
      <p:ext uri="{BB962C8B-B14F-4D97-AF65-F5344CB8AC3E}">
        <p14:creationId xmlns:p14="http://schemas.microsoft.com/office/powerpoint/2010/main" val="4093636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Tree</a:t>
            </a:r>
          </a:p>
        </p:txBody>
      </p:sp>
      <p:sp>
        <p:nvSpPr>
          <p:cNvPr id="3" name="Content Placeholder 2"/>
          <p:cNvSpPr>
            <a:spLocks noGrp="1"/>
          </p:cNvSpPr>
          <p:nvPr>
            <p:ph idx="1"/>
          </p:nvPr>
        </p:nvSpPr>
        <p:spPr/>
        <p:txBody>
          <a:bodyPr/>
          <a:lstStyle/>
          <a:p>
            <a:r>
              <a:rPr lang="en-US" dirty="0" smtClean="0"/>
              <a:t>Trees </a:t>
            </a:r>
            <a:r>
              <a:rPr lang="en-US" dirty="0"/>
              <a:t>are particularly useful in computer science, where they are employed in a wide range of algorithms.</a:t>
            </a:r>
          </a:p>
          <a:p>
            <a:pPr>
              <a:defRPr/>
            </a:pPr>
            <a:endParaRPr lang="en-US" dirty="0" smtClean="0"/>
          </a:p>
          <a:p>
            <a:pPr>
              <a:defRPr/>
            </a:pPr>
            <a:r>
              <a:rPr lang="en-US" dirty="0" smtClean="0"/>
              <a:t>A </a:t>
            </a:r>
            <a:r>
              <a:rPr lang="en-US" dirty="0"/>
              <a:t>tree </a:t>
            </a:r>
            <a:r>
              <a:rPr lang="en-US" dirty="0" smtClean="0"/>
              <a:t>is an undirected </a:t>
            </a:r>
            <a:r>
              <a:rPr lang="en-US" dirty="0"/>
              <a:t>graph T such that</a:t>
            </a:r>
          </a:p>
          <a:p>
            <a:pPr lvl="1">
              <a:defRPr/>
            </a:pPr>
            <a:r>
              <a:rPr lang="en-US" sz="2400" dirty="0"/>
              <a:t>T is connected</a:t>
            </a:r>
          </a:p>
          <a:p>
            <a:pPr lvl="1">
              <a:defRPr/>
            </a:pPr>
            <a:r>
              <a:rPr lang="en-US" sz="2400" dirty="0"/>
              <a:t>T has no cycles (circuits) </a:t>
            </a:r>
          </a:p>
          <a:p>
            <a:pPr marL="0" indent="0">
              <a:buNone/>
            </a:pPr>
            <a:endParaRPr lang="en-US" dirty="0"/>
          </a:p>
          <a:p>
            <a:r>
              <a:rPr lang="en-US" dirty="0" smtClean="0"/>
              <a:t>A </a:t>
            </a:r>
            <a:r>
              <a:rPr lang="en-US" dirty="0"/>
              <a:t>tree cannot contain multiple edges or loops. Therefore any tree must be a simple graph.</a:t>
            </a:r>
          </a:p>
          <a:p>
            <a:pPr marL="0" indent="0">
              <a:buNone/>
            </a:pPr>
            <a:endParaRPr lang="en-US" dirty="0" smtClean="0"/>
          </a:p>
          <a:p>
            <a:pPr marL="0" indent="0">
              <a:buNone/>
            </a:pPr>
            <a:endParaRPr lang="en-US" dirty="0"/>
          </a:p>
          <a:p>
            <a:endParaRPr lang="en-US" dirty="0"/>
          </a:p>
        </p:txBody>
      </p:sp>
      <p:grpSp>
        <p:nvGrpSpPr>
          <p:cNvPr id="4" name="Group 3"/>
          <p:cNvGrpSpPr/>
          <p:nvPr/>
        </p:nvGrpSpPr>
        <p:grpSpPr>
          <a:xfrm>
            <a:off x="5981700" y="2774950"/>
            <a:ext cx="2857500" cy="1568450"/>
            <a:chOff x="5524500" y="4419600"/>
            <a:chExt cx="2857500" cy="1568450"/>
          </a:xfrm>
        </p:grpSpPr>
        <p:sp>
          <p:nvSpPr>
            <p:cNvPr id="5" name="Text Box 4"/>
            <p:cNvSpPr txBox="1">
              <a:spLocks noChangeArrowheads="1"/>
            </p:cNvSpPr>
            <p:nvPr/>
          </p:nvSpPr>
          <p:spPr bwMode="auto">
            <a:xfrm>
              <a:off x="5524500" y="5591175"/>
              <a:ext cx="285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Tahoma" pitchFamily="34" charset="0"/>
                </a:rPr>
                <a:t>Tree</a:t>
              </a:r>
            </a:p>
          </p:txBody>
        </p:sp>
        <p:sp>
          <p:nvSpPr>
            <p:cNvPr id="6" name="Oval 5"/>
            <p:cNvSpPr>
              <a:spLocks noChangeAspect="1" noChangeArrowheads="1"/>
            </p:cNvSpPr>
            <p:nvPr/>
          </p:nvSpPr>
          <p:spPr bwMode="auto">
            <a:xfrm>
              <a:off x="7664450" y="4424363"/>
              <a:ext cx="366713" cy="366712"/>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sp>
          <p:nvSpPr>
            <p:cNvPr id="7" name="Oval 6"/>
            <p:cNvSpPr>
              <a:spLocks noChangeAspect="1" noChangeArrowheads="1"/>
            </p:cNvSpPr>
            <p:nvPr/>
          </p:nvSpPr>
          <p:spPr bwMode="auto">
            <a:xfrm>
              <a:off x="6754813" y="4425950"/>
              <a:ext cx="366712" cy="366713"/>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sp>
          <p:nvSpPr>
            <p:cNvPr id="8" name="Oval 7"/>
            <p:cNvSpPr>
              <a:spLocks noChangeAspect="1" noChangeArrowheads="1"/>
            </p:cNvSpPr>
            <p:nvPr/>
          </p:nvSpPr>
          <p:spPr bwMode="auto">
            <a:xfrm>
              <a:off x="5875338" y="4419600"/>
              <a:ext cx="366712" cy="366713"/>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sp>
          <p:nvSpPr>
            <p:cNvPr id="9" name="Oval 8"/>
            <p:cNvSpPr>
              <a:spLocks noChangeAspect="1" noChangeArrowheads="1"/>
            </p:cNvSpPr>
            <p:nvPr/>
          </p:nvSpPr>
          <p:spPr bwMode="auto">
            <a:xfrm>
              <a:off x="6759575" y="5156200"/>
              <a:ext cx="366713" cy="366713"/>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cxnSp>
          <p:nvCxnSpPr>
            <p:cNvPr id="10" name="AutoShape 10"/>
            <p:cNvCxnSpPr>
              <a:cxnSpLocks noChangeAspect="1" noChangeShapeType="1"/>
              <a:stCxn id="8" idx="6"/>
              <a:endCxn id="7" idx="2"/>
            </p:cNvCxnSpPr>
            <p:nvPr/>
          </p:nvCxnSpPr>
          <p:spPr bwMode="auto">
            <a:xfrm>
              <a:off x="6249988" y="4602163"/>
              <a:ext cx="493712" cy="63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1" name="AutoShape 11"/>
            <p:cNvCxnSpPr>
              <a:cxnSpLocks noChangeAspect="1" noChangeShapeType="1"/>
              <a:stCxn id="9" idx="0"/>
              <a:endCxn id="7" idx="4"/>
            </p:cNvCxnSpPr>
            <p:nvPr/>
          </p:nvCxnSpPr>
          <p:spPr bwMode="auto">
            <a:xfrm flipH="1" flipV="1">
              <a:off x="6937375" y="4800600"/>
              <a:ext cx="4763" cy="3444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2" name="Oval 11"/>
            <p:cNvSpPr>
              <a:spLocks noChangeAspect="1" noChangeArrowheads="1"/>
            </p:cNvSpPr>
            <p:nvPr/>
          </p:nvSpPr>
          <p:spPr bwMode="auto">
            <a:xfrm>
              <a:off x="7664450" y="5154613"/>
              <a:ext cx="366713" cy="366712"/>
            </a:xfrm>
            <a:prstGeom prst="ellipse">
              <a:avLst/>
            </a:prstGeom>
            <a:solidFill>
              <a:schemeClr val="accent1"/>
            </a:solidFill>
            <a:ln w="19050">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Tahoma" pitchFamily="34" charset="0"/>
              </a:endParaRPr>
            </a:p>
          </p:txBody>
        </p:sp>
        <p:cxnSp>
          <p:nvCxnSpPr>
            <p:cNvPr id="13" name="AutoShape 13"/>
            <p:cNvCxnSpPr>
              <a:cxnSpLocks noChangeAspect="1" noChangeShapeType="1"/>
              <a:stCxn id="6" idx="2"/>
              <a:endCxn id="7" idx="6"/>
            </p:cNvCxnSpPr>
            <p:nvPr/>
          </p:nvCxnSpPr>
          <p:spPr bwMode="auto">
            <a:xfrm flipH="1">
              <a:off x="7129463" y="4606925"/>
              <a:ext cx="523875" cy="15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Aspect="1" noChangeShapeType="1"/>
              <a:stCxn id="9" idx="6"/>
              <a:endCxn id="12" idx="2"/>
            </p:cNvCxnSpPr>
            <p:nvPr/>
          </p:nvCxnSpPr>
          <p:spPr bwMode="auto">
            <a:xfrm flipV="1">
              <a:off x="7134225" y="5337175"/>
              <a:ext cx="519113" cy="158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grpSp>
      <p:sp>
        <p:nvSpPr>
          <p:cNvPr id="16" name="Slide Number Placeholder 15"/>
          <p:cNvSpPr>
            <a:spLocks noGrp="1"/>
          </p:cNvSpPr>
          <p:nvPr>
            <p:ph type="sldNum" sz="quarter" idx="12"/>
          </p:nvPr>
        </p:nvSpPr>
        <p:spPr/>
        <p:txBody>
          <a:bodyPr/>
          <a:lstStyle/>
          <a:p>
            <a:fld id="{D503CD99-146E-4B12-A886-CB06D1FDEB82}" type="slidenum">
              <a:rPr lang="en-US" smtClean="0"/>
              <a:t>6</a:t>
            </a:fld>
            <a:endParaRPr lang="en-US" dirty="0"/>
          </a:p>
        </p:txBody>
      </p:sp>
    </p:spTree>
    <p:extLst>
      <p:ext uri="{BB962C8B-B14F-4D97-AF65-F5344CB8AC3E}">
        <p14:creationId xmlns:p14="http://schemas.microsoft.com/office/powerpoint/2010/main" val="16214220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C00000"/>
                </a:solidFill>
              </a:rPr>
              <a:t>Example</a:t>
            </a:r>
            <a:endParaRPr lang="en-US" sz="3200" dirty="0">
              <a:solidFill>
                <a:srgbClr val="C00000"/>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5300" y="2530733"/>
            <a:ext cx="81534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62000" y="1796534"/>
            <a:ext cx="4394152" cy="461665"/>
          </a:xfrm>
          <a:prstGeom prst="rect">
            <a:avLst/>
          </a:prstGeom>
        </p:spPr>
        <p:txBody>
          <a:bodyPr wrap="none">
            <a:spAutoFit/>
          </a:bodyPr>
          <a:lstStyle/>
          <a:p>
            <a:r>
              <a:rPr lang="en-US" sz="2400" dirty="0"/>
              <a:t>Which of the graphs are trees?</a:t>
            </a:r>
          </a:p>
        </p:txBody>
      </p:sp>
      <p:sp>
        <p:nvSpPr>
          <p:cNvPr id="5" name="Slide Number Placeholder 4"/>
          <p:cNvSpPr>
            <a:spLocks noGrp="1"/>
          </p:cNvSpPr>
          <p:nvPr>
            <p:ph type="sldNum" sz="quarter" idx="12"/>
          </p:nvPr>
        </p:nvSpPr>
        <p:spPr/>
        <p:txBody>
          <a:bodyPr/>
          <a:lstStyle/>
          <a:p>
            <a:fld id="{D503CD99-146E-4B12-A886-CB06D1FDEB82}" type="slidenum">
              <a:rPr lang="en-US" smtClean="0"/>
              <a:t>7</a:t>
            </a:fld>
            <a:endParaRPr lang="en-US" dirty="0"/>
          </a:p>
        </p:txBody>
      </p:sp>
    </p:spTree>
    <p:extLst>
      <p:ext uri="{BB962C8B-B14F-4D97-AF65-F5344CB8AC3E}">
        <p14:creationId xmlns:p14="http://schemas.microsoft.com/office/powerpoint/2010/main" val="1542908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endParaRPr lang="en-US" sz="3200" dirty="0"/>
          </a:p>
        </p:txBody>
      </p:sp>
      <p:sp>
        <p:nvSpPr>
          <p:cNvPr id="3" name="Content Placeholder 2"/>
          <p:cNvSpPr>
            <a:spLocks noGrp="1"/>
          </p:cNvSpPr>
          <p:nvPr>
            <p:ph idx="1"/>
          </p:nvPr>
        </p:nvSpPr>
        <p:spPr/>
        <p:txBody>
          <a:bodyPr/>
          <a:lstStyle/>
          <a:p>
            <a:r>
              <a:rPr lang="en-US" i="1" dirty="0"/>
              <a:t>G</a:t>
            </a:r>
            <a:r>
              <a:rPr lang="en-US" dirty="0"/>
              <a:t>1 and </a:t>
            </a:r>
            <a:r>
              <a:rPr lang="en-US" i="1" dirty="0"/>
              <a:t>G</a:t>
            </a:r>
            <a:r>
              <a:rPr lang="en-US" dirty="0"/>
              <a:t>2 are trees, because both are connected graphs with no simple circuits.</a:t>
            </a:r>
          </a:p>
          <a:p>
            <a:r>
              <a:rPr lang="en-US" i="1" dirty="0"/>
              <a:t>G</a:t>
            </a:r>
            <a:r>
              <a:rPr lang="en-US" dirty="0"/>
              <a:t>3 is not a tree because </a:t>
            </a:r>
            <a:r>
              <a:rPr lang="en-US" i="1" dirty="0"/>
              <a:t>e</a:t>
            </a:r>
            <a:r>
              <a:rPr lang="en-US" dirty="0"/>
              <a:t>, </a:t>
            </a:r>
            <a:r>
              <a:rPr lang="en-US" i="1" dirty="0"/>
              <a:t>b</a:t>
            </a:r>
            <a:r>
              <a:rPr lang="en-US" dirty="0"/>
              <a:t>, </a:t>
            </a:r>
            <a:r>
              <a:rPr lang="en-US" i="1" dirty="0"/>
              <a:t>a</a:t>
            </a:r>
            <a:r>
              <a:rPr lang="en-US" dirty="0"/>
              <a:t>, </a:t>
            </a:r>
            <a:r>
              <a:rPr lang="en-US" i="1" dirty="0"/>
              <a:t>d</a:t>
            </a:r>
            <a:r>
              <a:rPr lang="en-US" dirty="0"/>
              <a:t>, </a:t>
            </a:r>
            <a:r>
              <a:rPr lang="en-US" i="1" dirty="0"/>
              <a:t>e </a:t>
            </a:r>
            <a:r>
              <a:rPr lang="en-US" dirty="0"/>
              <a:t>is a simple circuit in this graph. </a:t>
            </a:r>
          </a:p>
          <a:p>
            <a:r>
              <a:rPr lang="en-US" i="1" dirty="0"/>
              <a:t>G</a:t>
            </a:r>
            <a:r>
              <a:rPr lang="en-US" dirty="0"/>
              <a:t>4 is not a tree because it is not connected.</a:t>
            </a:r>
          </a:p>
          <a:p>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8</a:t>
            </a:fld>
            <a:endParaRPr lang="en-US" dirty="0"/>
          </a:p>
        </p:txBody>
      </p:sp>
    </p:spTree>
    <p:extLst>
      <p:ext uri="{BB962C8B-B14F-4D97-AF65-F5344CB8AC3E}">
        <p14:creationId xmlns:p14="http://schemas.microsoft.com/office/powerpoint/2010/main" val="4732386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Forest</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3438525"/>
            <a:ext cx="7315199" cy="31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04800" y="1843951"/>
            <a:ext cx="8382000" cy="1569660"/>
          </a:xfrm>
          <a:prstGeom prst="rect">
            <a:avLst/>
          </a:prstGeom>
        </p:spPr>
        <p:txBody>
          <a:bodyPr wrap="square">
            <a:spAutoFit/>
          </a:bodyPr>
          <a:lstStyle/>
          <a:p>
            <a:r>
              <a:rPr lang="en-US" sz="2400" dirty="0"/>
              <a:t>A </a:t>
            </a:r>
            <a:r>
              <a:rPr lang="en-US" sz="2400" b="1" dirty="0"/>
              <a:t>forest</a:t>
            </a:r>
            <a:r>
              <a:rPr lang="en-US" sz="2400" dirty="0"/>
              <a:t> is an undirected graph such that</a:t>
            </a:r>
          </a:p>
          <a:p>
            <a:pPr marL="800100" lvl="1" indent="-342900">
              <a:buFont typeface="Arial" panose="020B0604020202020204" pitchFamily="34" charset="0"/>
              <a:buChar char="•"/>
            </a:pPr>
            <a:r>
              <a:rPr lang="en-US" sz="2400" dirty="0"/>
              <a:t>It has no simple circuits</a:t>
            </a:r>
          </a:p>
          <a:p>
            <a:pPr marL="800100" lvl="1" indent="-342900">
              <a:buFont typeface="Arial" panose="020B0604020202020204" pitchFamily="34" charset="0"/>
              <a:buChar char="•"/>
            </a:pPr>
            <a:r>
              <a:rPr lang="en-US" sz="2400" b="1" dirty="0"/>
              <a:t>It is not necessarily </a:t>
            </a:r>
            <a:r>
              <a:rPr lang="en-US" sz="2400" b="1" dirty="0" smtClean="0"/>
              <a:t>connected</a:t>
            </a:r>
            <a:endParaRPr lang="en-US" sz="2400" dirty="0"/>
          </a:p>
          <a:p>
            <a:pPr>
              <a:defRPr/>
            </a:pPr>
            <a:r>
              <a:rPr lang="en-US" sz="2400" dirty="0"/>
              <a:t>The connected components of a forest are trees</a:t>
            </a:r>
          </a:p>
        </p:txBody>
      </p:sp>
      <p:sp>
        <p:nvSpPr>
          <p:cNvPr id="5" name="Slide Number Placeholder 4"/>
          <p:cNvSpPr>
            <a:spLocks noGrp="1"/>
          </p:cNvSpPr>
          <p:nvPr>
            <p:ph type="sldNum" sz="quarter" idx="12"/>
          </p:nvPr>
        </p:nvSpPr>
        <p:spPr/>
        <p:txBody>
          <a:bodyPr/>
          <a:lstStyle/>
          <a:p>
            <a:fld id="{D503CD99-146E-4B12-A886-CB06D1FDEB82}" type="slidenum">
              <a:rPr lang="en-US" smtClean="0"/>
              <a:t>9</a:t>
            </a:fld>
            <a:endParaRPr lang="en-US" dirty="0"/>
          </a:p>
        </p:txBody>
      </p:sp>
    </p:spTree>
    <p:extLst>
      <p:ext uri="{BB962C8B-B14F-4D97-AF65-F5344CB8AC3E}">
        <p14:creationId xmlns:p14="http://schemas.microsoft.com/office/powerpoint/2010/main" val="4099414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Rooted Tree</a:t>
            </a:r>
          </a:p>
        </p:txBody>
      </p:sp>
      <p:sp>
        <p:nvSpPr>
          <p:cNvPr id="3" name="Content Placeholder 2"/>
          <p:cNvSpPr>
            <a:spLocks noGrp="1"/>
          </p:cNvSpPr>
          <p:nvPr>
            <p:ph idx="1"/>
          </p:nvPr>
        </p:nvSpPr>
        <p:spPr/>
        <p:txBody>
          <a:bodyPr/>
          <a:lstStyle/>
          <a:p>
            <a:r>
              <a:rPr lang="en-US" dirty="0"/>
              <a:t>A </a:t>
            </a:r>
            <a:r>
              <a:rPr lang="en-US" i="1" dirty="0"/>
              <a:t>rooted tree </a:t>
            </a:r>
            <a:r>
              <a:rPr lang="en-US" dirty="0"/>
              <a:t>is a tree in which one vertex has been designated as the root and every edge </a:t>
            </a:r>
            <a:r>
              <a:rPr lang="en-US" dirty="0" smtClean="0"/>
              <a:t>is directed </a:t>
            </a:r>
            <a:r>
              <a:rPr lang="en-US" dirty="0"/>
              <a:t>away from the root</a:t>
            </a:r>
            <a:r>
              <a:rPr lang="en-US" dirty="0" smtClean="0"/>
              <a:t>.</a:t>
            </a:r>
          </a:p>
          <a:p>
            <a:r>
              <a:rPr lang="en-US" dirty="0"/>
              <a:t>Root, parent, child, siblings relations between vertices</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276600"/>
            <a:ext cx="82296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10</a:t>
            </a:fld>
            <a:endParaRPr lang="en-US" dirty="0"/>
          </a:p>
        </p:txBody>
      </p:sp>
    </p:spTree>
    <p:extLst>
      <p:ext uri="{BB962C8B-B14F-4D97-AF65-F5344CB8AC3E}">
        <p14:creationId xmlns:p14="http://schemas.microsoft.com/office/powerpoint/2010/main" val="21959526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Terminologies</a:t>
            </a:r>
          </a:p>
        </p:txBody>
      </p:sp>
      <p:sp>
        <p:nvSpPr>
          <p:cNvPr id="3" name="Content Placeholder 2"/>
          <p:cNvSpPr>
            <a:spLocks noGrp="1"/>
          </p:cNvSpPr>
          <p:nvPr>
            <p:ph idx="1"/>
          </p:nvPr>
        </p:nvSpPr>
        <p:spPr/>
        <p:txBody>
          <a:bodyPr>
            <a:normAutofit/>
          </a:bodyPr>
          <a:lstStyle/>
          <a:p>
            <a:r>
              <a:rPr lang="en-US" dirty="0" smtClean="0"/>
              <a:t>Suppose </a:t>
            </a:r>
            <a:r>
              <a:rPr lang="en-US" dirty="0"/>
              <a:t>that </a:t>
            </a:r>
            <a:r>
              <a:rPr lang="en-US" i="1" dirty="0"/>
              <a:t>T </a:t>
            </a:r>
            <a:r>
              <a:rPr lang="en-US" dirty="0"/>
              <a:t>is a </a:t>
            </a:r>
            <a:r>
              <a:rPr lang="en-US" dirty="0" smtClean="0"/>
              <a:t>rooted tree.</a:t>
            </a:r>
          </a:p>
          <a:p>
            <a:r>
              <a:rPr lang="en-US" dirty="0" smtClean="0"/>
              <a:t>If </a:t>
            </a:r>
            <a:r>
              <a:rPr lang="en-US" i="1" dirty="0"/>
              <a:t>v </a:t>
            </a:r>
            <a:r>
              <a:rPr lang="en-US" dirty="0"/>
              <a:t>is a vertex in </a:t>
            </a:r>
            <a:r>
              <a:rPr lang="en-US" i="1" dirty="0"/>
              <a:t>T </a:t>
            </a:r>
            <a:r>
              <a:rPr lang="en-US" dirty="0"/>
              <a:t>other than the root, the </a:t>
            </a:r>
            <a:r>
              <a:rPr lang="en-US" b="1" dirty="0"/>
              <a:t>parent </a:t>
            </a:r>
            <a:r>
              <a:rPr lang="en-US" dirty="0"/>
              <a:t>of </a:t>
            </a:r>
            <a:r>
              <a:rPr lang="en-US" i="1" dirty="0"/>
              <a:t>v </a:t>
            </a:r>
            <a:r>
              <a:rPr lang="en-US" dirty="0"/>
              <a:t>is the unique vertex </a:t>
            </a:r>
            <a:r>
              <a:rPr lang="en-US" i="1" dirty="0"/>
              <a:t>u </a:t>
            </a:r>
            <a:r>
              <a:rPr lang="en-US" dirty="0"/>
              <a:t>such that </a:t>
            </a:r>
            <a:r>
              <a:rPr lang="en-US" dirty="0" smtClean="0"/>
              <a:t>there is </a:t>
            </a:r>
            <a:r>
              <a:rPr lang="en-US" dirty="0"/>
              <a:t>a directed edge from </a:t>
            </a:r>
            <a:r>
              <a:rPr lang="en-US" i="1" dirty="0"/>
              <a:t>u </a:t>
            </a:r>
            <a:r>
              <a:rPr lang="en-US" dirty="0"/>
              <a:t>to </a:t>
            </a:r>
            <a:r>
              <a:rPr lang="en-US" i="1" dirty="0" smtClean="0"/>
              <a:t>v</a:t>
            </a:r>
            <a:r>
              <a:rPr lang="en-US" dirty="0" smtClean="0"/>
              <a:t>. </a:t>
            </a:r>
            <a:r>
              <a:rPr lang="en-US" dirty="0"/>
              <a:t>When </a:t>
            </a:r>
            <a:r>
              <a:rPr lang="en-US" i="1" dirty="0"/>
              <a:t>u </a:t>
            </a:r>
            <a:r>
              <a:rPr lang="en-US" dirty="0" smtClean="0"/>
              <a:t>is the </a:t>
            </a:r>
            <a:r>
              <a:rPr lang="en-US" dirty="0"/>
              <a:t>parent of </a:t>
            </a:r>
            <a:r>
              <a:rPr lang="en-US" i="1" dirty="0"/>
              <a:t>v</a:t>
            </a:r>
            <a:r>
              <a:rPr lang="en-US" dirty="0"/>
              <a:t>, </a:t>
            </a:r>
            <a:r>
              <a:rPr lang="en-US" i="1" dirty="0"/>
              <a:t>v </a:t>
            </a:r>
            <a:r>
              <a:rPr lang="en-US" dirty="0"/>
              <a:t>is called a </a:t>
            </a:r>
            <a:r>
              <a:rPr lang="en-US" b="1" dirty="0"/>
              <a:t>child </a:t>
            </a:r>
            <a:r>
              <a:rPr lang="en-US" dirty="0"/>
              <a:t>of </a:t>
            </a:r>
            <a:r>
              <a:rPr lang="en-US" i="1" dirty="0"/>
              <a:t>u</a:t>
            </a:r>
            <a:r>
              <a:rPr lang="en-US" dirty="0"/>
              <a:t>. </a:t>
            </a:r>
            <a:endParaRPr lang="en-US" dirty="0" smtClean="0"/>
          </a:p>
          <a:p>
            <a:r>
              <a:rPr lang="en-US" dirty="0" smtClean="0"/>
              <a:t>Vertices </a:t>
            </a:r>
            <a:r>
              <a:rPr lang="en-US" dirty="0"/>
              <a:t>with the same parent are called </a:t>
            </a:r>
            <a:r>
              <a:rPr lang="en-US" b="1" dirty="0"/>
              <a:t>siblings</a:t>
            </a:r>
            <a:r>
              <a:rPr lang="en-US" dirty="0"/>
              <a:t>. </a:t>
            </a:r>
            <a:endParaRPr lang="en-US" dirty="0" smtClean="0"/>
          </a:p>
          <a:p>
            <a:r>
              <a:rPr lang="en-US" dirty="0" smtClean="0"/>
              <a:t>The</a:t>
            </a:r>
            <a:r>
              <a:rPr lang="en-US" dirty="0"/>
              <a:t> </a:t>
            </a:r>
            <a:r>
              <a:rPr lang="en-US" b="1" dirty="0" smtClean="0"/>
              <a:t>ancestors </a:t>
            </a:r>
            <a:r>
              <a:rPr lang="en-US" dirty="0"/>
              <a:t>of a vertex other than the root are the vertices in the path from the root to this </a:t>
            </a:r>
            <a:r>
              <a:rPr lang="en-US" dirty="0" smtClean="0"/>
              <a:t>vertex, excluding </a:t>
            </a:r>
            <a:r>
              <a:rPr lang="en-US" dirty="0"/>
              <a:t>the vertex itself and including the root (that is, its parent, its parent’s parent, and </a:t>
            </a:r>
            <a:r>
              <a:rPr lang="en-US" dirty="0" smtClean="0"/>
              <a:t>so on</a:t>
            </a:r>
            <a:r>
              <a:rPr lang="en-US" dirty="0"/>
              <a:t>, until the root is reached). </a:t>
            </a:r>
            <a:endParaRPr lang="en-US" dirty="0" smtClean="0"/>
          </a:p>
          <a:p>
            <a:r>
              <a:rPr lang="en-US" dirty="0" smtClean="0"/>
              <a:t>The </a:t>
            </a:r>
            <a:r>
              <a:rPr lang="en-US" b="1" dirty="0"/>
              <a:t>descendants </a:t>
            </a:r>
            <a:r>
              <a:rPr lang="en-US" dirty="0"/>
              <a:t>of a vertex </a:t>
            </a:r>
            <a:r>
              <a:rPr lang="en-US" i="1" dirty="0"/>
              <a:t>v </a:t>
            </a:r>
            <a:r>
              <a:rPr lang="en-US" dirty="0"/>
              <a:t>are those vertices that have </a:t>
            </a:r>
            <a:r>
              <a:rPr lang="en-US" i="1" dirty="0"/>
              <a:t>v </a:t>
            </a:r>
            <a:r>
              <a:rPr lang="en-US" dirty="0" smtClean="0"/>
              <a:t>as an </a:t>
            </a:r>
            <a:r>
              <a:rPr lang="en-US" dirty="0"/>
              <a:t>ancestor.</a:t>
            </a:r>
          </a:p>
        </p:txBody>
      </p:sp>
      <p:sp>
        <p:nvSpPr>
          <p:cNvPr id="5" name="Slide Number Placeholder 4"/>
          <p:cNvSpPr>
            <a:spLocks noGrp="1"/>
          </p:cNvSpPr>
          <p:nvPr>
            <p:ph type="sldNum" sz="quarter" idx="12"/>
          </p:nvPr>
        </p:nvSpPr>
        <p:spPr/>
        <p:txBody>
          <a:bodyPr/>
          <a:lstStyle/>
          <a:p>
            <a:fld id="{D503CD99-146E-4B12-A886-CB06D1FDEB82}" type="slidenum">
              <a:rPr lang="en-US" smtClean="0"/>
              <a:t>11</a:t>
            </a:fld>
            <a:endParaRPr lang="en-US" dirty="0"/>
          </a:p>
        </p:txBody>
      </p:sp>
    </p:spTree>
    <p:extLst>
      <p:ext uri="{BB962C8B-B14F-4D97-AF65-F5344CB8AC3E}">
        <p14:creationId xmlns:p14="http://schemas.microsoft.com/office/powerpoint/2010/main" val="30354246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Terminologies</a:t>
            </a:r>
          </a:p>
        </p:txBody>
      </p:sp>
      <p:sp>
        <p:nvSpPr>
          <p:cNvPr id="3" name="Content Placeholder 2"/>
          <p:cNvSpPr>
            <a:spLocks noGrp="1"/>
          </p:cNvSpPr>
          <p:nvPr>
            <p:ph idx="1"/>
          </p:nvPr>
        </p:nvSpPr>
        <p:spPr/>
        <p:txBody>
          <a:bodyPr/>
          <a:lstStyle/>
          <a:p>
            <a:r>
              <a:rPr lang="en-US" dirty="0"/>
              <a:t>A vertex of a rooted tree is called a </a:t>
            </a:r>
            <a:r>
              <a:rPr lang="en-US" b="1" dirty="0"/>
              <a:t>leaf </a:t>
            </a:r>
            <a:r>
              <a:rPr lang="en-US" dirty="0"/>
              <a:t>if it has no children. </a:t>
            </a:r>
            <a:endParaRPr lang="en-US" dirty="0" smtClean="0"/>
          </a:p>
          <a:p>
            <a:r>
              <a:rPr lang="en-US" dirty="0" smtClean="0"/>
              <a:t>Vertices </a:t>
            </a:r>
            <a:r>
              <a:rPr lang="en-US" dirty="0"/>
              <a:t>that </a:t>
            </a:r>
            <a:r>
              <a:rPr lang="en-US" dirty="0" smtClean="0"/>
              <a:t>have children </a:t>
            </a:r>
            <a:r>
              <a:rPr lang="en-US" dirty="0"/>
              <a:t>are called </a:t>
            </a:r>
            <a:r>
              <a:rPr lang="en-US" b="1" dirty="0"/>
              <a:t>internal vertices</a:t>
            </a:r>
            <a:r>
              <a:rPr lang="en-US" dirty="0"/>
              <a:t>. The root is an internal vertex unless it is the only </a:t>
            </a:r>
            <a:r>
              <a:rPr lang="en-US" dirty="0" smtClean="0"/>
              <a:t>vertex in </a:t>
            </a:r>
            <a:r>
              <a:rPr lang="en-US" dirty="0"/>
              <a:t>the graph, in which case it is a leaf.</a:t>
            </a:r>
          </a:p>
          <a:p>
            <a:r>
              <a:rPr lang="en-US" dirty="0"/>
              <a:t>If </a:t>
            </a:r>
            <a:r>
              <a:rPr lang="en-US" i="1" dirty="0"/>
              <a:t>a </a:t>
            </a:r>
            <a:r>
              <a:rPr lang="en-US" dirty="0"/>
              <a:t>is a vertex in a tree, the </a:t>
            </a:r>
            <a:r>
              <a:rPr lang="en-US" b="1" dirty="0" err="1"/>
              <a:t>subtree</a:t>
            </a:r>
            <a:r>
              <a:rPr lang="en-US" b="1" dirty="0"/>
              <a:t> </a:t>
            </a:r>
            <a:r>
              <a:rPr lang="en-US" dirty="0"/>
              <a:t>with </a:t>
            </a:r>
            <a:r>
              <a:rPr lang="en-US" i="1" dirty="0"/>
              <a:t>a </a:t>
            </a:r>
            <a:r>
              <a:rPr lang="en-US" dirty="0"/>
              <a:t>as its root is the </a:t>
            </a:r>
            <a:r>
              <a:rPr lang="en-US" dirty="0" err="1"/>
              <a:t>subgraph</a:t>
            </a:r>
            <a:r>
              <a:rPr lang="en-US" dirty="0"/>
              <a:t> of the tree </a:t>
            </a:r>
            <a:r>
              <a:rPr lang="en-US" dirty="0" smtClean="0"/>
              <a:t>consisting of </a:t>
            </a:r>
            <a:r>
              <a:rPr lang="en-US" i="1" dirty="0"/>
              <a:t>a </a:t>
            </a:r>
            <a:r>
              <a:rPr lang="en-US" dirty="0"/>
              <a:t>and its descendants and all edges incident to these descendants.</a:t>
            </a:r>
          </a:p>
        </p:txBody>
      </p:sp>
      <p:sp>
        <p:nvSpPr>
          <p:cNvPr id="5" name="Slide Number Placeholder 4"/>
          <p:cNvSpPr>
            <a:spLocks noGrp="1"/>
          </p:cNvSpPr>
          <p:nvPr>
            <p:ph type="sldNum" sz="quarter" idx="12"/>
          </p:nvPr>
        </p:nvSpPr>
        <p:spPr/>
        <p:txBody>
          <a:bodyPr/>
          <a:lstStyle/>
          <a:p>
            <a:fld id="{D503CD99-146E-4B12-A886-CB06D1FDEB82}" type="slidenum">
              <a:rPr lang="en-US" smtClean="0"/>
              <a:t>12</a:t>
            </a:fld>
            <a:endParaRPr lang="en-US" dirty="0"/>
          </a:p>
        </p:txBody>
      </p:sp>
    </p:spTree>
    <p:extLst>
      <p:ext uri="{BB962C8B-B14F-4D97-AF65-F5344CB8AC3E}">
        <p14:creationId xmlns:p14="http://schemas.microsoft.com/office/powerpoint/2010/main" val="5659969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lstStyle/>
          <a:p>
            <a:r>
              <a:rPr lang="en-US" dirty="0"/>
              <a:t>In the rooted tree </a:t>
            </a:r>
            <a:r>
              <a:rPr lang="en-US" i="1" dirty="0"/>
              <a:t>T </a:t>
            </a:r>
            <a:r>
              <a:rPr lang="en-US" dirty="0"/>
              <a:t>(with root </a:t>
            </a:r>
            <a:r>
              <a:rPr lang="en-US" i="1" dirty="0"/>
              <a:t>a</a:t>
            </a:r>
            <a:r>
              <a:rPr lang="en-US" dirty="0" smtClean="0"/>
              <a:t>), </a:t>
            </a:r>
            <a:r>
              <a:rPr lang="en-US" dirty="0"/>
              <a:t>find the parent of </a:t>
            </a:r>
            <a:r>
              <a:rPr lang="en-US" i="1" dirty="0"/>
              <a:t>c</a:t>
            </a:r>
            <a:r>
              <a:rPr lang="en-US" dirty="0"/>
              <a:t>, the children of </a:t>
            </a:r>
            <a:r>
              <a:rPr lang="en-US" i="1" dirty="0"/>
              <a:t>g</a:t>
            </a:r>
            <a:r>
              <a:rPr lang="en-US" dirty="0"/>
              <a:t>, </a:t>
            </a:r>
            <a:r>
              <a:rPr lang="en-US" dirty="0" smtClean="0"/>
              <a:t>the siblings </a:t>
            </a:r>
            <a:r>
              <a:rPr lang="en-US" dirty="0"/>
              <a:t>of </a:t>
            </a:r>
            <a:r>
              <a:rPr lang="en-US" i="1" dirty="0"/>
              <a:t>h</a:t>
            </a:r>
            <a:r>
              <a:rPr lang="en-US" dirty="0"/>
              <a:t>, all ancestors of </a:t>
            </a:r>
            <a:r>
              <a:rPr lang="en-US" i="1" dirty="0"/>
              <a:t>e</a:t>
            </a:r>
            <a:r>
              <a:rPr lang="en-US" dirty="0"/>
              <a:t>, all descendants of </a:t>
            </a:r>
            <a:r>
              <a:rPr lang="en-US" i="1" dirty="0"/>
              <a:t>b</a:t>
            </a:r>
            <a:r>
              <a:rPr lang="en-US" dirty="0"/>
              <a:t>, all internal vertices, and all leaves. </a:t>
            </a:r>
            <a:r>
              <a:rPr lang="en-US" dirty="0" smtClean="0"/>
              <a:t>What is </a:t>
            </a:r>
            <a:r>
              <a:rPr lang="en-US" dirty="0"/>
              <a:t>the </a:t>
            </a:r>
            <a:r>
              <a:rPr lang="en-US" dirty="0" err="1"/>
              <a:t>subtree</a:t>
            </a:r>
            <a:r>
              <a:rPr lang="en-US" dirty="0"/>
              <a:t> rooted at </a:t>
            </a:r>
            <a:r>
              <a:rPr lang="en-US" i="1" dirty="0" smtClean="0"/>
              <a:t>g</a:t>
            </a:r>
            <a:r>
              <a:rPr lang="en-US" dirty="0" smtClean="0"/>
              <a:t>?</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7536" y="2743200"/>
            <a:ext cx="3837864"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13</a:t>
            </a:fld>
            <a:endParaRPr lang="en-US" dirty="0"/>
          </a:p>
        </p:txBody>
      </p:sp>
    </p:spTree>
    <p:extLst>
      <p:ext uri="{BB962C8B-B14F-4D97-AF65-F5344CB8AC3E}">
        <p14:creationId xmlns:p14="http://schemas.microsoft.com/office/powerpoint/2010/main" val="6541610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Rooted Tree</a:t>
            </a:r>
          </a:p>
        </p:txBody>
      </p:sp>
      <p:sp>
        <p:nvSpPr>
          <p:cNvPr id="3" name="Content Placeholder 2"/>
          <p:cNvSpPr>
            <a:spLocks noGrp="1"/>
          </p:cNvSpPr>
          <p:nvPr>
            <p:ph idx="1"/>
          </p:nvPr>
        </p:nvSpPr>
        <p:spPr/>
        <p:txBody>
          <a:bodyPr/>
          <a:lstStyle/>
          <a:p>
            <a:r>
              <a:rPr lang="en-US" dirty="0"/>
              <a:t>A rooted tree is called an </a:t>
            </a:r>
            <a:r>
              <a:rPr lang="en-US" i="1" dirty="0"/>
              <a:t>m-</a:t>
            </a:r>
            <a:r>
              <a:rPr lang="en-US" i="1" dirty="0" err="1"/>
              <a:t>ary</a:t>
            </a:r>
            <a:r>
              <a:rPr lang="en-US" i="1" dirty="0"/>
              <a:t> tree </a:t>
            </a:r>
            <a:r>
              <a:rPr lang="en-US" dirty="0"/>
              <a:t>if every internal vertex has no more than </a:t>
            </a:r>
            <a:r>
              <a:rPr lang="en-US" i="1" dirty="0"/>
              <a:t>m </a:t>
            </a:r>
            <a:r>
              <a:rPr lang="en-US" dirty="0" smtClean="0"/>
              <a:t>children. The </a:t>
            </a:r>
            <a:r>
              <a:rPr lang="en-US" dirty="0"/>
              <a:t>tree is called a </a:t>
            </a:r>
            <a:r>
              <a:rPr lang="en-US" i="1" dirty="0"/>
              <a:t>full m-</a:t>
            </a:r>
            <a:r>
              <a:rPr lang="en-US" i="1" dirty="0" err="1"/>
              <a:t>ary</a:t>
            </a:r>
            <a:r>
              <a:rPr lang="en-US" i="1" dirty="0"/>
              <a:t> tree </a:t>
            </a:r>
            <a:r>
              <a:rPr lang="en-US" dirty="0"/>
              <a:t>if every internal vertex has exactly </a:t>
            </a:r>
            <a:r>
              <a:rPr lang="en-US" i="1" dirty="0"/>
              <a:t>m </a:t>
            </a:r>
            <a:r>
              <a:rPr lang="en-US" dirty="0"/>
              <a:t>children. An </a:t>
            </a:r>
            <a:r>
              <a:rPr lang="en-US" i="1" dirty="0" smtClean="0"/>
              <a:t>m</a:t>
            </a:r>
            <a:r>
              <a:rPr lang="en-US" dirty="0" smtClean="0"/>
              <a:t>-</a:t>
            </a:r>
            <a:r>
              <a:rPr lang="en-US" dirty="0" err="1" smtClean="0"/>
              <a:t>ary</a:t>
            </a:r>
            <a:r>
              <a:rPr lang="en-US" dirty="0"/>
              <a:t> </a:t>
            </a:r>
            <a:r>
              <a:rPr lang="en-US" dirty="0" smtClean="0"/>
              <a:t>tree </a:t>
            </a:r>
            <a:r>
              <a:rPr lang="en-US" dirty="0"/>
              <a:t>with </a:t>
            </a:r>
            <a:r>
              <a:rPr lang="en-US" i="1" dirty="0"/>
              <a:t>m </a:t>
            </a:r>
            <a:r>
              <a:rPr lang="en-US" dirty="0"/>
              <a:t>= 2 is called a </a:t>
            </a:r>
            <a:r>
              <a:rPr lang="en-US" i="1" dirty="0"/>
              <a:t>binary tree</a:t>
            </a:r>
            <a:r>
              <a:rPr lang="en-US" dirty="0"/>
              <a:t>.</a:t>
            </a: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3733800"/>
            <a:ext cx="90297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14</a:t>
            </a:fld>
            <a:endParaRPr lang="en-US" dirty="0"/>
          </a:p>
        </p:txBody>
      </p:sp>
    </p:spTree>
    <p:extLst>
      <p:ext uri="{BB962C8B-B14F-4D97-AF65-F5344CB8AC3E}">
        <p14:creationId xmlns:p14="http://schemas.microsoft.com/office/powerpoint/2010/main" val="13102096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Definitions</a:t>
            </a:r>
          </a:p>
        </p:txBody>
      </p:sp>
      <p:sp>
        <p:nvSpPr>
          <p:cNvPr id="3" name="Content Placeholder 2"/>
          <p:cNvSpPr>
            <a:spLocks noGrp="1"/>
          </p:cNvSpPr>
          <p:nvPr>
            <p:ph idx="1"/>
          </p:nvPr>
        </p:nvSpPr>
        <p:spPr/>
        <p:txBody>
          <a:bodyPr/>
          <a:lstStyle/>
          <a:p>
            <a:endParaRPr lang="en-US" dirty="0" smtClean="0"/>
          </a:p>
          <a:p>
            <a:r>
              <a:rPr lang="en-US" dirty="0" smtClean="0"/>
              <a:t>The </a:t>
            </a:r>
            <a:r>
              <a:rPr lang="en-US" b="1" dirty="0"/>
              <a:t>level </a:t>
            </a:r>
            <a:r>
              <a:rPr lang="en-US" dirty="0"/>
              <a:t>of a vertex </a:t>
            </a:r>
            <a:r>
              <a:rPr lang="en-US" i="1" dirty="0"/>
              <a:t>v </a:t>
            </a:r>
            <a:r>
              <a:rPr lang="en-US" dirty="0"/>
              <a:t>in a rooted tree is the length of the </a:t>
            </a:r>
            <a:r>
              <a:rPr lang="en-US" dirty="0" smtClean="0"/>
              <a:t>unique path </a:t>
            </a:r>
            <a:r>
              <a:rPr lang="en-US" dirty="0"/>
              <a:t>from the root to this vertex. </a:t>
            </a:r>
            <a:endParaRPr lang="en-US" dirty="0" smtClean="0"/>
          </a:p>
          <a:p>
            <a:endParaRPr lang="en-US" dirty="0"/>
          </a:p>
          <a:p>
            <a:r>
              <a:rPr lang="en-US" dirty="0" smtClean="0"/>
              <a:t>The </a:t>
            </a:r>
            <a:r>
              <a:rPr lang="en-US" dirty="0"/>
              <a:t>level of the root is defined to be zero. </a:t>
            </a:r>
            <a:endParaRPr lang="en-US" dirty="0" smtClean="0"/>
          </a:p>
          <a:p>
            <a:pPr marL="0" indent="0">
              <a:buNone/>
            </a:pPr>
            <a:endParaRPr lang="en-US" dirty="0" smtClean="0"/>
          </a:p>
          <a:p>
            <a:r>
              <a:rPr lang="en-US" dirty="0" smtClean="0"/>
              <a:t>The </a:t>
            </a:r>
            <a:r>
              <a:rPr lang="en-US" b="1" dirty="0"/>
              <a:t>height </a:t>
            </a:r>
            <a:r>
              <a:rPr lang="en-US" dirty="0"/>
              <a:t>of </a:t>
            </a:r>
            <a:r>
              <a:rPr lang="en-US" dirty="0" smtClean="0"/>
              <a:t>a rooted </a:t>
            </a:r>
            <a:r>
              <a:rPr lang="en-US" dirty="0"/>
              <a:t>tree is the maximum of the levels of vertices. In other words, the height of a rooted </a:t>
            </a:r>
            <a:r>
              <a:rPr lang="en-US" dirty="0" smtClean="0"/>
              <a:t>tree is </a:t>
            </a:r>
            <a:r>
              <a:rPr lang="en-US" dirty="0"/>
              <a:t>the length of the longest path from the root to any vertex.</a:t>
            </a:r>
          </a:p>
        </p:txBody>
      </p:sp>
      <p:sp>
        <p:nvSpPr>
          <p:cNvPr id="5" name="Slide Number Placeholder 4"/>
          <p:cNvSpPr>
            <a:spLocks noGrp="1"/>
          </p:cNvSpPr>
          <p:nvPr>
            <p:ph type="sldNum" sz="quarter" idx="12"/>
          </p:nvPr>
        </p:nvSpPr>
        <p:spPr/>
        <p:txBody>
          <a:bodyPr/>
          <a:lstStyle/>
          <a:p>
            <a:fld id="{D503CD99-146E-4B12-A886-CB06D1FDEB82}" type="slidenum">
              <a:rPr lang="en-US" smtClean="0"/>
              <a:t>15</a:t>
            </a:fld>
            <a:endParaRPr lang="en-US" dirty="0"/>
          </a:p>
        </p:txBody>
      </p:sp>
    </p:spTree>
    <p:extLst>
      <p:ext uri="{BB962C8B-B14F-4D97-AF65-F5344CB8AC3E}">
        <p14:creationId xmlns:p14="http://schemas.microsoft.com/office/powerpoint/2010/main" val="35259397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lstStyle/>
          <a:p>
            <a:r>
              <a:rPr lang="en-US" dirty="0"/>
              <a:t>Find the level of each vertex in the rooted </a:t>
            </a:r>
            <a:r>
              <a:rPr lang="en-US" dirty="0" smtClean="0"/>
              <a:t>tree T. </a:t>
            </a:r>
            <a:r>
              <a:rPr lang="en-US" dirty="0"/>
              <a:t>What is </a:t>
            </a:r>
            <a:r>
              <a:rPr lang="en-US" dirty="0" smtClean="0"/>
              <a:t>the </a:t>
            </a:r>
            <a:r>
              <a:rPr lang="en-US" dirty="0"/>
              <a:t>height </a:t>
            </a:r>
            <a:r>
              <a:rPr lang="en-US" dirty="0" smtClean="0"/>
              <a:t>of this tree</a:t>
            </a:r>
            <a:r>
              <a:rPr lang="en-US" dirty="0"/>
              <a:t>?</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819400"/>
            <a:ext cx="3619500"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16</a:t>
            </a:fld>
            <a:endParaRPr lang="en-US" dirty="0"/>
          </a:p>
        </p:txBody>
      </p:sp>
    </p:spTree>
    <p:extLst>
      <p:ext uri="{BB962C8B-B14F-4D97-AF65-F5344CB8AC3E}">
        <p14:creationId xmlns:p14="http://schemas.microsoft.com/office/powerpoint/2010/main" val="29454041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Balanced Trees</a:t>
            </a:r>
          </a:p>
        </p:txBody>
      </p:sp>
      <p:sp>
        <p:nvSpPr>
          <p:cNvPr id="3" name="Content Placeholder 2"/>
          <p:cNvSpPr>
            <a:spLocks noGrp="1"/>
          </p:cNvSpPr>
          <p:nvPr>
            <p:ph idx="1"/>
          </p:nvPr>
        </p:nvSpPr>
        <p:spPr/>
        <p:txBody>
          <a:bodyPr/>
          <a:lstStyle/>
          <a:p>
            <a:r>
              <a:rPr lang="en-US" dirty="0"/>
              <a:t>A rooted </a:t>
            </a:r>
            <a:r>
              <a:rPr lang="en-US" i="1" dirty="0"/>
              <a:t>m</a:t>
            </a:r>
            <a:r>
              <a:rPr lang="en-US" dirty="0"/>
              <a:t>-</a:t>
            </a:r>
            <a:r>
              <a:rPr lang="en-US" dirty="0" err="1"/>
              <a:t>ary</a:t>
            </a:r>
            <a:r>
              <a:rPr lang="en-US" dirty="0"/>
              <a:t> tree of height </a:t>
            </a:r>
            <a:r>
              <a:rPr lang="en-US" i="1" dirty="0"/>
              <a:t>h </a:t>
            </a:r>
            <a:r>
              <a:rPr lang="en-US" dirty="0"/>
              <a:t>is </a:t>
            </a:r>
            <a:r>
              <a:rPr lang="en-US" b="1" dirty="0"/>
              <a:t>balanced </a:t>
            </a:r>
            <a:r>
              <a:rPr lang="en-US" dirty="0"/>
              <a:t>if all leaves are at levels </a:t>
            </a:r>
            <a:r>
              <a:rPr lang="en-US" i="1" dirty="0" smtClean="0"/>
              <a:t>h </a:t>
            </a:r>
            <a:r>
              <a:rPr lang="en-US" dirty="0"/>
              <a:t>or </a:t>
            </a:r>
            <a:r>
              <a:rPr lang="en-US" i="1" dirty="0"/>
              <a:t>h </a:t>
            </a:r>
            <a:r>
              <a:rPr lang="en-US" dirty="0"/>
              <a:t>− 1.</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3048000"/>
            <a:ext cx="9144001"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17</a:t>
            </a:fld>
            <a:endParaRPr lang="en-US" dirty="0"/>
          </a:p>
        </p:txBody>
      </p:sp>
    </p:spTree>
    <p:extLst>
      <p:ext uri="{BB962C8B-B14F-4D97-AF65-F5344CB8AC3E}">
        <p14:creationId xmlns:p14="http://schemas.microsoft.com/office/powerpoint/2010/main" val="570027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Ordered rooted Tree</a:t>
            </a:r>
          </a:p>
        </p:txBody>
      </p:sp>
      <p:sp>
        <p:nvSpPr>
          <p:cNvPr id="3" name="Content Placeholder 2"/>
          <p:cNvSpPr>
            <a:spLocks noGrp="1"/>
          </p:cNvSpPr>
          <p:nvPr>
            <p:ph idx="1"/>
          </p:nvPr>
        </p:nvSpPr>
        <p:spPr/>
        <p:txBody>
          <a:bodyPr>
            <a:normAutofit/>
          </a:bodyPr>
          <a:lstStyle/>
          <a:p>
            <a:r>
              <a:rPr lang="en-US" dirty="0" smtClean="0"/>
              <a:t>An ordered rooted tree is a rooted tree where the children of each internal vertex are ordered.</a:t>
            </a:r>
          </a:p>
          <a:p>
            <a:endParaRPr lang="en-US" dirty="0"/>
          </a:p>
          <a:p>
            <a:r>
              <a:rPr lang="en-US" dirty="0"/>
              <a:t>In a drawing of an ordered rooted tree, </a:t>
            </a:r>
            <a:r>
              <a:rPr lang="en-US" dirty="0" smtClean="0"/>
              <a:t>with the </a:t>
            </a:r>
            <a:r>
              <a:rPr lang="en-US" dirty="0"/>
              <a:t>root shown at the top, the children of a vertex are shown from left to right</a:t>
            </a:r>
            <a:r>
              <a:rPr lang="en-US" dirty="0" smtClean="0"/>
              <a:t>.</a:t>
            </a:r>
          </a:p>
          <a:p>
            <a:endParaRPr lang="en-US" dirty="0"/>
          </a:p>
          <a:p>
            <a:endParaRPr lang="en-US" dirty="0"/>
          </a:p>
          <a:p>
            <a:endParaRPr lang="en-US" dirty="0" smtClean="0"/>
          </a:p>
        </p:txBody>
      </p:sp>
      <p:sp>
        <p:nvSpPr>
          <p:cNvPr id="6" name="Slide Number Placeholder 5"/>
          <p:cNvSpPr>
            <a:spLocks noGrp="1"/>
          </p:cNvSpPr>
          <p:nvPr>
            <p:ph type="sldNum" sz="quarter" idx="12"/>
          </p:nvPr>
        </p:nvSpPr>
        <p:spPr/>
        <p:txBody>
          <a:bodyPr/>
          <a:lstStyle/>
          <a:p>
            <a:fld id="{D503CD99-146E-4B12-A886-CB06D1FDEB82}" type="slidenum">
              <a:rPr lang="en-US" smtClean="0"/>
              <a:t>18</a:t>
            </a:fld>
            <a:endParaRPr lang="en-US" dirty="0"/>
          </a:p>
        </p:txBody>
      </p:sp>
    </p:spTree>
    <p:extLst>
      <p:ext uri="{BB962C8B-B14F-4D97-AF65-F5344CB8AC3E}">
        <p14:creationId xmlns:p14="http://schemas.microsoft.com/office/powerpoint/2010/main" val="6158619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Ordered rooted Tree</a:t>
            </a:r>
          </a:p>
        </p:txBody>
      </p:sp>
      <p:sp>
        <p:nvSpPr>
          <p:cNvPr id="3" name="Content Placeholder 2"/>
          <p:cNvSpPr>
            <a:spLocks noGrp="1"/>
          </p:cNvSpPr>
          <p:nvPr>
            <p:ph idx="1"/>
          </p:nvPr>
        </p:nvSpPr>
        <p:spPr/>
        <p:txBody>
          <a:bodyPr>
            <a:normAutofit/>
          </a:bodyPr>
          <a:lstStyle/>
          <a:p>
            <a:r>
              <a:rPr lang="en-US" dirty="0" smtClean="0"/>
              <a:t>An ordered rooted tree is a rooted tree where the children of each internal vertex are ordered.</a:t>
            </a:r>
          </a:p>
          <a:p>
            <a:pPr marL="0" indent="0">
              <a:buNone/>
            </a:pPr>
            <a:endParaRPr lang="en-US" dirty="0"/>
          </a:p>
          <a:p>
            <a:endParaRPr lang="en-US" dirty="0" smtClean="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962" t="18751" r="33968" b="8593"/>
          <a:stretch/>
        </p:blipFill>
        <p:spPr bwMode="auto">
          <a:xfrm>
            <a:off x="990600" y="2438400"/>
            <a:ext cx="7162800" cy="4269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19</a:t>
            </a:fld>
            <a:endParaRPr lang="en-US" dirty="0"/>
          </a:p>
        </p:txBody>
      </p:sp>
    </p:spTree>
    <p:extLst>
      <p:ext uri="{BB962C8B-B14F-4D97-AF65-F5344CB8AC3E}">
        <p14:creationId xmlns:p14="http://schemas.microsoft.com/office/powerpoint/2010/main" val="11548322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Tree </a:t>
            </a:r>
            <a:r>
              <a:rPr lang="en-US" sz="3200" dirty="0" smtClean="0">
                <a:solidFill>
                  <a:srgbClr val="C00000"/>
                </a:solidFill>
              </a:rPr>
              <a:t>Traversal</a:t>
            </a:r>
            <a:r>
              <a:rPr lang="en-US" sz="3200" dirty="0" smtClean="0"/>
              <a:t> </a:t>
            </a:r>
            <a:r>
              <a:rPr lang="en-US" sz="3200" dirty="0">
                <a:solidFill>
                  <a:srgbClr val="C00000"/>
                </a:solidFill>
              </a:rPr>
              <a:t>and </a:t>
            </a:r>
            <a:r>
              <a:rPr lang="en-US" sz="3200" dirty="0" smtClean="0">
                <a:solidFill>
                  <a:srgbClr val="C00000"/>
                </a:solidFill>
              </a:rPr>
              <a:t>Traversal Algorithms</a:t>
            </a:r>
            <a:endParaRPr lang="en-US" sz="3200" dirty="0">
              <a:solidFill>
                <a:srgbClr val="C00000"/>
              </a:solidFill>
            </a:endParaRPr>
          </a:p>
        </p:txBody>
      </p:sp>
      <p:sp>
        <p:nvSpPr>
          <p:cNvPr id="3" name="Content Placeholder 2"/>
          <p:cNvSpPr>
            <a:spLocks noGrp="1"/>
          </p:cNvSpPr>
          <p:nvPr>
            <p:ph idx="1"/>
          </p:nvPr>
        </p:nvSpPr>
        <p:spPr/>
        <p:txBody>
          <a:bodyPr>
            <a:normAutofit/>
          </a:bodyPr>
          <a:lstStyle/>
          <a:p>
            <a:pPr>
              <a:defRPr/>
            </a:pPr>
            <a:r>
              <a:rPr lang="en-US" dirty="0" smtClean="0"/>
              <a:t>Ordered </a:t>
            </a:r>
            <a:r>
              <a:rPr lang="en-US" dirty="0"/>
              <a:t>rooted trees are often used to store information. Tree traversal is the procedure of visiting different vertices of the tree to read information stored in that vertex. There are three different orders of the tree traversal.</a:t>
            </a:r>
          </a:p>
          <a:p>
            <a:r>
              <a:rPr lang="en-US" dirty="0"/>
              <a:t>Most commonly used algorithms:</a:t>
            </a:r>
          </a:p>
          <a:p>
            <a:pPr lvl="1"/>
            <a:r>
              <a:rPr lang="en-US" sz="2400" dirty="0"/>
              <a:t>Preorder traversal </a:t>
            </a:r>
          </a:p>
          <a:p>
            <a:pPr lvl="1"/>
            <a:r>
              <a:rPr lang="en-US" sz="2400" dirty="0" err="1"/>
              <a:t>Inorder</a:t>
            </a:r>
            <a:r>
              <a:rPr lang="en-US" sz="2400" dirty="0"/>
              <a:t> traversal</a:t>
            </a:r>
          </a:p>
          <a:p>
            <a:pPr lvl="1"/>
            <a:r>
              <a:rPr lang="en-US" sz="2400" dirty="0" err="1"/>
              <a:t>Postorder</a:t>
            </a:r>
            <a:r>
              <a:rPr lang="en-US" sz="2400" dirty="0"/>
              <a:t> traversal</a:t>
            </a:r>
          </a:p>
          <a:p>
            <a:r>
              <a:rPr lang="en-US" dirty="0"/>
              <a:t>All recursively defined.</a:t>
            </a:r>
          </a:p>
          <a:p>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20</a:t>
            </a:fld>
            <a:endParaRPr lang="en-US" dirty="0"/>
          </a:p>
        </p:txBody>
      </p:sp>
    </p:spTree>
    <p:extLst>
      <p:ext uri="{BB962C8B-B14F-4D97-AF65-F5344CB8AC3E}">
        <p14:creationId xmlns:p14="http://schemas.microsoft.com/office/powerpoint/2010/main" val="26601894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solidFill>
                  <a:srgbClr val="C00000"/>
                </a:solidFill>
              </a:rPr>
              <a:t>Inorder</a:t>
            </a:r>
            <a:r>
              <a:rPr lang="en-US" sz="3200" dirty="0">
                <a:solidFill>
                  <a:srgbClr val="C00000"/>
                </a:solidFill>
              </a:rPr>
              <a:t> Traversal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smtClean="0"/>
                  <a:t>Let </a:t>
                </a:r>
                <a14:m>
                  <m:oMath xmlns:m="http://schemas.openxmlformats.org/officeDocument/2006/math">
                    <m:r>
                      <a:rPr lang="en-US" i="1" dirty="0" smtClean="0">
                        <a:latin typeface="Cambria Math"/>
                      </a:rPr>
                      <m:t>𝑇</m:t>
                    </m:r>
                  </m:oMath>
                </a14:m>
                <a:r>
                  <a:rPr lang="en-US" dirty="0"/>
                  <a:t> be an ordered rooted tree with root </a:t>
                </a:r>
                <a:r>
                  <a:rPr lang="en-US" b="1" i="1" dirty="0"/>
                  <a:t>r</a:t>
                </a:r>
                <a:r>
                  <a:rPr lang="en-US" dirty="0"/>
                  <a:t> and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 …</m:t>
                    </m:r>
                    <m:r>
                      <a:rPr lang="en-US" i="1" dirty="0" err="1">
                        <a:latin typeface="Cambria Math"/>
                      </a:rPr>
                      <m:t>𝑇</m:t>
                    </m:r>
                    <m:r>
                      <a:rPr lang="en-US" i="1" baseline="-25000" dirty="0" err="1">
                        <a:latin typeface="Cambria Math"/>
                      </a:rPr>
                      <m:t>𝑛</m:t>
                    </m:r>
                    <m:r>
                      <a:rPr lang="en-US" i="1" dirty="0">
                        <a:latin typeface="Cambria Math"/>
                      </a:rPr>
                      <m:t> </m:t>
                    </m:r>
                  </m:oMath>
                </a14:m>
                <a:r>
                  <a:rPr lang="en-US" dirty="0"/>
                  <a:t>are the </a:t>
                </a:r>
                <a:r>
                  <a:rPr lang="en-US" dirty="0" err="1"/>
                  <a:t>subtrees</a:t>
                </a:r>
                <a:r>
                  <a:rPr lang="en-US" dirty="0"/>
                  <a:t> at </a:t>
                </a:r>
                <a:r>
                  <a:rPr lang="en-US" b="1" i="1" dirty="0"/>
                  <a:t>r </a:t>
                </a:r>
                <a:r>
                  <a:rPr lang="en-US" dirty="0"/>
                  <a:t>from left to right. The in order traversal begins by traversing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oMath>
                </a14:m>
                <a:r>
                  <a:rPr lang="en-US" dirty="0"/>
                  <a:t>in </a:t>
                </a:r>
                <a:r>
                  <a:rPr lang="en-US" dirty="0" err="1"/>
                  <a:t>inorder</a:t>
                </a:r>
                <a:r>
                  <a:rPr lang="en-US" dirty="0"/>
                  <a:t>, then visiting </a:t>
                </a:r>
                <a:r>
                  <a:rPr lang="en-US" b="1" i="1" dirty="0"/>
                  <a:t>r</a:t>
                </a:r>
                <a:r>
                  <a:rPr lang="en-US" dirty="0"/>
                  <a:t>. It continues by traversing </a:t>
                </a:r>
                <a14:m>
                  <m:oMath xmlns:m="http://schemas.openxmlformats.org/officeDocument/2006/math">
                    <m:r>
                      <a:rPr lang="en-US" i="1" dirty="0" smtClean="0">
                        <a:latin typeface="Cambria Math"/>
                      </a:rPr>
                      <m:t>𝑇</m:t>
                    </m:r>
                    <m:r>
                      <a:rPr lang="en-US" i="1" baseline="-25000" dirty="0">
                        <a:latin typeface="Cambria Math"/>
                      </a:rPr>
                      <m:t>2</m:t>
                    </m:r>
                  </m:oMath>
                </a14:m>
                <a:r>
                  <a:rPr lang="en-US" dirty="0"/>
                  <a:t> in </a:t>
                </a:r>
                <a:r>
                  <a:rPr lang="en-US" dirty="0" err="1"/>
                  <a:t>inorder</a:t>
                </a:r>
                <a:r>
                  <a:rPr lang="en-US" dirty="0"/>
                  <a:t>, then </a:t>
                </a:r>
                <a14:m>
                  <m:oMath xmlns:m="http://schemas.openxmlformats.org/officeDocument/2006/math">
                    <m:r>
                      <a:rPr lang="en-US" i="1" dirty="0" smtClean="0">
                        <a:latin typeface="Cambria Math"/>
                      </a:rPr>
                      <m:t>𝑇</m:t>
                    </m:r>
                    <m:r>
                      <a:rPr lang="en-US" i="1" baseline="-25000" dirty="0">
                        <a:latin typeface="Cambria Math"/>
                      </a:rPr>
                      <m:t>3</m:t>
                    </m:r>
                  </m:oMath>
                </a14:m>
                <a:r>
                  <a:rPr lang="en-US" dirty="0"/>
                  <a:t> in </a:t>
                </a:r>
                <a:r>
                  <a:rPr lang="en-US" dirty="0" err="1"/>
                  <a:t>inorder</a:t>
                </a:r>
                <a:r>
                  <a:rPr lang="en-US" dirty="0"/>
                  <a:t>, . </a:t>
                </a:r>
                <a:r>
                  <a:rPr lang="en-US" dirty="0" smtClean="0"/>
                  <a:t>.. </a:t>
                </a:r>
                <a:r>
                  <a:rPr lang="en-US" dirty="0"/>
                  <a:t>, and finally </a:t>
                </a:r>
                <a14:m>
                  <m:oMath xmlns:m="http://schemas.openxmlformats.org/officeDocument/2006/math">
                    <m:r>
                      <a:rPr lang="en-US" i="1" dirty="0" smtClean="0">
                        <a:latin typeface="Cambria Math"/>
                      </a:rPr>
                      <m:t>𝑇</m:t>
                    </m:r>
                    <m:r>
                      <a:rPr lang="en-US" i="1" baseline="-25000" dirty="0" err="1">
                        <a:latin typeface="Cambria Math"/>
                      </a:rPr>
                      <m:t>𝑛</m:t>
                    </m:r>
                    <m:r>
                      <a:rPr lang="en-US" i="1" dirty="0">
                        <a:latin typeface="Cambria Math"/>
                      </a:rPr>
                      <m:t> </m:t>
                    </m:r>
                  </m:oMath>
                </a14:m>
                <a:r>
                  <a:rPr lang="en-US" dirty="0"/>
                  <a:t>in </a:t>
                </a:r>
                <a:r>
                  <a:rPr lang="en-US" dirty="0" err="1"/>
                  <a:t>inorder</a:t>
                </a:r>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875" r="-1111"/>
                </a:stretch>
              </a:blipFill>
            </p:spPr>
            <p:txBody>
              <a:bodyPr/>
              <a:lstStyle/>
              <a:p>
                <a:r>
                  <a:rPr lang="en-US">
                    <a:noFill/>
                  </a:rPr>
                  <a:t> </a:t>
                </a:r>
              </a:p>
            </p:txBody>
          </p:sp>
        </mc:Fallback>
      </mc:AlternateContent>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2211" t="39844" r="43192" b="28125"/>
          <a:stretch/>
        </p:blipFill>
        <p:spPr bwMode="auto">
          <a:xfrm>
            <a:off x="1295400" y="3657600"/>
            <a:ext cx="6248400" cy="3043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21</a:t>
            </a:fld>
            <a:endParaRPr lang="en-US" dirty="0"/>
          </a:p>
        </p:txBody>
      </p:sp>
    </p:spTree>
    <p:extLst>
      <p:ext uri="{BB962C8B-B14F-4D97-AF65-F5344CB8AC3E}">
        <p14:creationId xmlns:p14="http://schemas.microsoft.com/office/powerpoint/2010/main" val="23862690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solidFill>
                  <a:srgbClr val="C00000"/>
                </a:solidFill>
              </a:rPr>
              <a:t>In-order </a:t>
            </a:r>
            <a:r>
              <a:rPr lang="en-US" sz="3200" dirty="0">
                <a:solidFill>
                  <a:srgbClr val="C00000"/>
                </a:solidFill>
              </a:rPr>
              <a:t>Tree Walk</a:t>
            </a:r>
          </a:p>
        </p:txBody>
      </p:sp>
      <p:sp>
        <p:nvSpPr>
          <p:cNvPr id="3" name="Content Placeholder 2"/>
          <p:cNvSpPr>
            <a:spLocks noGrp="1"/>
          </p:cNvSpPr>
          <p:nvPr>
            <p:ph idx="1"/>
          </p:nvPr>
        </p:nvSpPr>
        <p:spPr/>
        <p:txBody>
          <a:bodyPr/>
          <a:lstStyle/>
          <a:p>
            <a:r>
              <a:rPr lang="en-US" dirty="0" smtClean="0"/>
              <a:t>Left</a:t>
            </a:r>
            <a:r>
              <a:rPr lang="en-US" dirty="0"/>
              <a:t>, root, right</a:t>
            </a:r>
          </a:p>
          <a:p>
            <a:r>
              <a:rPr lang="en-US" dirty="0" smtClean="0"/>
              <a:t>Example</a:t>
            </a:r>
            <a:r>
              <a:rPr lang="en-US" dirty="0"/>
              <a:t>:</a:t>
            </a:r>
          </a:p>
          <a:p>
            <a:endParaRPr lang="en-US" dirty="0"/>
          </a:p>
          <a:p>
            <a:endParaRPr lang="en-US" dirty="0"/>
          </a:p>
          <a:p>
            <a:endParaRPr lang="en-US" dirty="0"/>
          </a:p>
          <a:p>
            <a:endParaRPr lang="en-US" dirty="0"/>
          </a:p>
          <a:p>
            <a:endParaRPr lang="en-US" dirty="0" smtClean="0"/>
          </a:p>
          <a:p>
            <a:endParaRPr lang="en-US" dirty="0"/>
          </a:p>
          <a:p>
            <a:r>
              <a:rPr lang="en-US" dirty="0" smtClean="0"/>
              <a:t>A</a:t>
            </a:r>
            <a:r>
              <a:rPr lang="en-US" dirty="0"/>
              <a:t>, B, D, F, H, K</a:t>
            </a:r>
          </a:p>
          <a:p>
            <a:endParaRPr lang="en-US" dirty="0"/>
          </a:p>
        </p:txBody>
      </p:sp>
      <p:grpSp>
        <p:nvGrpSpPr>
          <p:cNvPr id="4" name="Group 4"/>
          <p:cNvGrpSpPr>
            <a:grpSpLocks/>
          </p:cNvGrpSpPr>
          <p:nvPr/>
        </p:nvGrpSpPr>
        <p:grpSpPr bwMode="auto">
          <a:xfrm>
            <a:off x="838200" y="2514600"/>
            <a:ext cx="7467600" cy="2514600"/>
            <a:chOff x="528" y="2160"/>
            <a:chExt cx="4704" cy="1584"/>
          </a:xfrm>
        </p:grpSpPr>
        <p:sp>
          <p:nvSpPr>
            <p:cNvPr id="5" name="Oval 5"/>
            <p:cNvSpPr>
              <a:spLocks noChangeArrowheads="1"/>
            </p:cNvSpPr>
            <p:nvPr/>
          </p:nvSpPr>
          <p:spPr bwMode="auto">
            <a:xfrm>
              <a:off x="2688" y="21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dirty="0">
                  <a:latin typeface="Courier New" pitchFamily="49" charset="0"/>
                </a:rPr>
                <a:t>F</a:t>
              </a:r>
            </a:p>
          </p:txBody>
        </p:sp>
        <p:sp>
          <p:nvSpPr>
            <p:cNvPr id="6" name="Oval 6"/>
            <p:cNvSpPr>
              <a:spLocks noChangeArrowheads="1"/>
            </p:cNvSpPr>
            <p:nvPr/>
          </p:nvSpPr>
          <p:spPr bwMode="auto">
            <a:xfrm>
              <a:off x="124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B</a:t>
              </a:r>
            </a:p>
          </p:txBody>
        </p:sp>
        <p:sp>
          <p:nvSpPr>
            <p:cNvPr id="7" name="Oval 7"/>
            <p:cNvSpPr>
              <a:spLocks noChangeArrowheads="1"/>
            </p:cNvSpPr>
            <p:nvPr/>
          </p:nvSpPr>
          <p:spPr bwMode="auto">
            <a:xfrm>
              <a:off x="412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H</a:t>
              </a:r>
            </a:p>
          </p:txBody>
        </p:sp>
        <p:sp>
          <p:nvSpPr>
            <p:cNvPr id="8" name="Oval 8"/>
            <p:cNvSpPr>
              <a:spLocks noChangeArrowheads="1"/>
            </p:cNvSpPr>
            <p:nvPr/>
          </p:nvSpPr>
          <p:spPr bwMode="auto">
            <a:xfrm>
              <a:off x="484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K</a:t>
              </a:r>
            </a:p>
          </p:txBody>
        </p:sp>
        <p:sp>
          <p:nvSpPr>
            <p:cNvPr id="9" name="Oval 9"/>
            <p:cNvSpPr>
              <a:spLocks noChangeArrowheads="1"/>
            </p:cNvSpPr>
            <p:nvPr/>
          </p:nvSpPr>
          <p:spPr bwMode="auto">
            <a:xfrm>
              <a:off x="196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D</a:t>
              </a:r>
            </a:p>
          </p:txBody>
        </p:sp>
        <p:sp>
          <p:nvSpPr>
            <p:cNvPr id="10" name="Oval 10"/>
            <p:cNvSpPr>
              <a:spLocks noChangeArrowheads="1"/>
            </p:cNvSpPr>
            <p:nvPr/>
          </p:nvSpPr>
          <p:spPr bwMode="auto">
            <a:xfrm>
              <a:off x="52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A</a:t>
              </a:r>
            </a:p>
          </p:txBody>
        </p:sp>
        <p:cxnSp>
          <p:nvCxnSpPr>
            <p:cNvPr id="11" name="AutoShape 11"/>
            <p:cNvCxnSpPr>
              <a:cxnSpLocks noChangeShapeType="1"/>
              <a:stCxn id="10" idx="7"/>
              <a:endCxn id="6" idx="3"/>
            </p:cNvCxnSpPr>
            <p:nvPr/>
          </p:nvCxnSpPr>
          <p:spPr bwMode="auto">
            <a:xfrm flipV="1">
              <a:off x="8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2" name="AutoShape 12"/>
            <p:cNvCxnSpPr>
              <a:cxnSpLocks noChangeShapeType="1"/>
              <a:stCxn id="6" idx="5"/>
              <a:endCxn id="9" idx="1"/>
            </p:cNvCxnSpPr>
            <p:nvPr/>
          </p:nvCxnSpPr>
          <p:spPr bwMode="auto">
            <a:xfrm>
              <a:off x="157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3" name="AutoShape 13"/>
            <p:cNvCxnSpPr>
              <a:cxnSpLocks noChangeShapeType="1"/>
              <a:stCxn id="6" idx="7"/>
              <a:endCxn id="5" idx="3"/>
            </p:cNvCxnSpPr>
            <p:nvPr/>
          </p:nvCxnSpPr>
          <p:spPr bwMode="auto">
            <a:xfrm flipV="1">
              <a:off x="157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7" idx="1"/>
            </p:cNvCxnSpPr>
            <p:nvPr/>
          </p:nvCxnSpPr>
          <p:spPr bwMode="auto">
            <a:xfrm>
              <a:off x="301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7" idx="5"/>
              <a:endCxn id="8" idx="1"/>
            </p:cNvCxnSpPr>
            <p:nvPr/>
          </p:nvCxnSpPr>
          <p:spPr bwMode="auto">
            <a:xfrm>
              <a:off x="44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grpSp>
      <p:sp>
        <p:nvSpPr>
          <p:cNvPr id="17" name="Slide Number Placeholder 16"/>
          <p:cNvSpPr>
            <a:spLocks noGrp="1"/>
          </p:cNvSpPr>
          <p:nvPr>
            <p:ph type="sldNum" sz="quarter" idx="12"/>
          </p:nvPr>
        </p:nvSpPr>
        <p:spPr/>
        <p:txBody>
          <a:bodyPr/>
          <a:lstStyle/>
          <a:p>
            <a:fld id="{D503CD99-146E-4B12-A886-CB06D1FDEB82}" type="slidenum">
              <a:rPr lang="en-US" smtClean="0"/>
              <a:t>22</a:t>
            </a:fld>
            <a:endParaRPr lang="en-US" dirty="0"/>
          </a:p>
        </p:txBody>
      </p:sp>
    </p:spTree>
    <p:extLst>
      <p:ext uri="{BB962C8B-B14F-4D97-AF65-F5344CB8AC3E}">
        <p14:creationId xmlns:p14="http://schemas.microsoft.com/office/powerpoint/2010/main" val="302162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61076"/>
            <a:ext cx="8229600" cy="435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6092825"/>
            <a:ext cx="79200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D503CD99-146E-4B12-A886-CB06D1FDEB82}" type="slidenum">
              <a:rPr lang="en-US" smtClean="0"/>
              <a:t>23</a:t>
            </a:fld>
            <a:endParaRPr lang="en-US" dirty="0"/>
          </a:p>
        </p:txBody>
      </p:sp>
    </p:spTree>
    <p:extLst>
      <p:ext uri="{BB962C8B-B14F-4D97-AF65-F5344CB8AC3E}">
        <p14:creationId xmlns:p14="http://schemas.microsoft.com/office/powerpoint/2010/main" val="293856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Preorder Traversal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Let </a:t>
                </a:r>
                <a:r>
                  <a:rPr lang="en-US" dirty="0"/>
                  <a:t>T be an ordered rooted tree with root </a:t>
                </a:r>
                <a:r>
                  <a:rPr lang="en-US" b="1" i="1" dirty="0"/>
                  <a:t>r</a:t>
                </a:r>
                <a:r>
                  <a:rPr lang="en-US" dirty="0"/>
                  <a:t> and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 …</m:t>
                    </m:r>
                    <m:r>
                      <a:rPr lang="en-US" i="1" dirty="0" err="1">
                        <a:latin typeface="Cambria Math"/>
                      </a:rPr>
                      <m:t>𝑇</m:t>
                    </m:r>
                    <m:r>
                      <a:rPr lang="en-US" i="1" baseline="-25000" dirty="0" err="1">
                        <a:latin typeface="Cambria Math"/>
                      </a:rPr>
                      <m:t>𝑛</m:t>
                    </m:r>
                    <m:r>
                      <a:rPr lang="en-US" i="1" dirty="0">
                        <a:latin typeface="Cambria Math"/>
                      </a:rPr>
                      <m:t> </m:t>
                    </m:r>
                  </m:oMath>
                </a14:m>
                <a:r>
                  <a:rPr lang="en-US" dirty="0"/>
                  <a:t>are the </a:t>
                </a:r>
                <a:r>
                  <a:rPr lang="en-US" dirty="0" err="1"/>
                  <a:t>subtrees</a:t>
                </a:r>
                <a:r>
                  <a:rPr lang="en-US" dirty="0"/>
                  <a:t> at </a:t>
                </a:r>
                <a:r>
                  <a:rPr lang="en-US" b="1" i="1" dirty="0"/>
                  <a:t>r </a:t>
                </a:r>
                <a:r>
                  <a:rPr lang="en-US" dirty="0"/>
                  <a:t>from left to right. The preorder traversal begins by visiting </a:t>
                </a:r>
                <a:r>
                  <a:rPr lang="en-US" b="1" i="1" dirty="0"/>
                  <a:t>r . </a:t>
                </a:r>
                <a:r>
                  <a:rPr lang="en-US" dirty="0"/>
                  <a:t>It continues by traversing </a:t>
                </a:r>
                <a14:m>
                  <m:oMath xmlns:m="http://schemas.openxmlformats.org/officeDocument/2006/math">
                    <m:r>
                      <a:rPr lang="en-US" i="1" dirty="0" smtClean="0">
                        <a:latin typeface="Cambria Math"/>
                      </a:rPr>
                      <m:t>𝑇</m:t>
                    </m:r>
                    <m:r>
                      <a:rPr lang="en-US" i="1" baseline="-25000" dirty="0">
                        <a:latin typeface="Cambria Math"/>
                      </a:rPr>
                      <m:t>1</m:t>
                    </m:r>
                  </m:oMath>
                </a14:m>
                <a:r>
                  <a:rPr lang="en-US" dirty="0"/>
                  <a:t> in preorder, then </a:t>
                </a:r>
                <a14:m>
                  <m:oMath xmlns:m="http://schemas.openxmlformats.org/officeDocument/2006/math">
                    <m:r>
                      <a:rPr lang="en-US" i="1" dirty="0" smtClean="0">
                        <a:latin typeface="Cambria Math"/>
                      </a:rPr>
                      <m:t>𝑇</m:t>
                    </m:r>
                    <m:r>
                      <a:rPr lang="en-US" i="1" baseline="-25000" dirty="0">
                        <a:latin typeface="Cambria Math"/>
                      </a:rPr>
                      <m:t>2</m:t>
                    </m:r>
                  </m:oMath>
                </a14:m>
                <a:r>
                  <a:rPr lang="en-US" dirty="0"/>
                  <a:t> in preorder, then </a:t>
                </a:r>
                <a14:m>
                  <m:oMath xmlns:m="http://schemas.openxmlformats.org/officeDocument/2006/math">
                    <m:r>
                      <a:rPr lang="en-US" i="1" dirty="0" smtClean="0">
                        <a:latin typeface="Cambria Math"/>
                      </a:rPr>
                      <m:t>𝑇</m:t>
                    </m:r>
                    <m:r>
                      <a:rPr lang="en-US" i="1" baseline="-25000" dirty="0">
                        <a:latin typeface="Cambria Math"/>
                      </a:rPr>
                      <m:t>3</m:t>
                    </m:r>
                    <m:r>
                      <a:rPr lang="en-US" i="1" dirty="0">
                        <a:latin typeface="Cambria Math"/>
                      </a:rPr>
                      <m:t> </m:t>
                    </m:r>
                  </m:oMath>
                </a14:m>
                <a:r>
                  <a:rPr lang="en-US" dirty="0"/>
                  <a:t>in preorder, . . . , and finally </a:t>
                </a:r>
                <a14:m>
                  <m:oMath xmlns:m="http://schemas.openxmlformats.org/officeDocument/2006/math">
                    <m:r>
                      <a:rPr lang="en-US" i="1" dirty="0" smtClean="0">
                        <a:latin typeface="Cambria Math"/>
                      </a:rPr>
                      <m:t>𝑇</m:t>
                    </m:r>
                    <m:r>
                      <a:rPr lang="en-US" i="1" baseline="-25000" dirty="0" err="1">
                        <a:latin typeface="Cambria Math"/>
                      </a:rPr>
                      <m:t>𝑛</m:t>
                    </m:r>
                  </m:oMath>
                </a14:m>
                <a:r>
                  <a:rPr lang="en-US" dirty="0"/>
                  <a:t> in preorder.</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875"/>
                </a:stretch>
              </a:blipFill>
            </p:spPr>
            <p:txBody>
              <a:bodyPr/>
              <a:lstStyle/>
              <a:p>
                <a:r>
                  <a:rPr lang="en-US">
                    <a:noFill/>
                  </a:rPr>
                  <a:t> </a:t>
                </a:r>
              </a:p>
            </p:txBody>
          </p:sp>
        </mc:Fallback>
      </mc:AlternateContent>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3133" t="27083" r="41289" b="24219"/>
          <a:stretch/>
        </p:blipFill>
        <p:spPr bwMode="auto">
          <a:xfrm>
            <a:off x="1905000" y="3581400"/>
            <a:ext cx="59436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24</a:t>
            </a:fld>
            <a:endParaRPr lang="en-US" dirty="0"/>
          </a:p>
        </p:txBody>
      </p:sp>
    </p:spTree>
    <p:extLst>
      <p:ext uri="{BB962C8B-B14F-4D97-AF65-F5344CB8AC3E}">
        <p14:creationId xmlns:p14="http://schemas.microsoft.com/office/powerpoint/2010/main" val="23774628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C00000"/>
                </a:solidFill>
              </a:rPr>
              <a:t>Preorder Traversal</a:t>
            </a:r>
            <a:endParaRPr lang="en-US" sz="3200" dirty="0">
              <a:solidFill>
                <a:srgbClr val="C00000"/>
              </a:solidFill>
            </a:endParaRPr>
          </a:p>
        </p:txBody>
      </p:sp>
      <p:sp>
        <p:nvSpPr>
          <p:cNvPr id="3" name="Content Placeholder 2"/>
          <p:cNvSpPr>
            <a:spLocks noGrp="1"/>
          </p:cNvSpPr>
          <p:nvPr>
            <p:ph idx="1"/>
          </p:nvPr>
        </p:nvSpPr>
        <p:spPr/>
        <p:txBody>
          <a:bodyPr/>
          <a:lstStyle/>
          <a:p>
            <a:r>
              <a:rPr lang="en-US" dirty="0"/>
              <a:t>Root, left, right</a:t>
            </a:r>
          </a:p>
          <a:p>
            <a:r>
              <a:rPr lang="en-US" dirty="0"/>
              <a:t>Example:</a:t>
            </a:r>
          </a:p>
          <a:p>
            <a:endParaRPr lang="en-US" dirty="0"/>
          </a:p>
          <a:p>
            <a:endParaRPr lang="en-US" dirty="0"/>
          </a:p>
          <a:p>
            <a:endParaRPr lang="en-US" dirty="0"/>
          </a:p>
          <a:p>
            <a:endParaRPr lang="en-US" dirty="0"/>
          </a:p>
          <a:p>
            <a:endParaRPr lang="en-US" dirty="0" smtClean="0"/>
          </a:p>
          <a:p>
            <a:endParaRPr lang="en-US" dirty="0"/>
          </a:p>
          <a:p>
            <a:endParaRPr lang="en-US" dirty="0" smtClean="0"/>
          </a:p>
          <a:p>
            <a:r>
              <a:rPr lang="en-US" dirty="0" smtClean="0"/>
              <a:t>F</a:t>
            </a:r>
            <a:r>
              <a:rPr lang="en-US" dirty="0"/>
              <a:t>, B, A, D, H, K</a:t>
            </a:r>
          </a:p>
          <a:p>
            <a:pPr marL="0" indent="0">
              <a:buNone/>
            </a:pPr>
            <a:endParaRPr lang="en-US" dirty="0"/>
          </a:p>
        </p:txBody>
      </p:sp>
      <p:grpSp>
        <p:nvGrpSpPr>
          <p:cNvPr id="4" name="Group 4"/>
          <p:cNvGrpSpPr>
            <a:grpSpLocks/>
          </p:cNvGrpSpPr>
          <p:nvPr/>
        </p:nvGrpSpPr>
        <p:grpSpPr bwMode="auto">
          <a:xfrm>
            <a:off x="838200" y="2667000"/>
            <a:ext cx="7467600" cy="2514600"/>
            <a:chOff x="528" y="2160"/>
            <a:chExt cx="4704" cy="1584"/>
          </a:xfrm>
        </p:grpSpPr>
        <p:sp>
          <p:nvSpPr>
            <p:cNvPr id="5" name="Oval 5"/>
            <p:cNvSpPr>
              <a:spLocks noChangeArrowheads="1"/>
            </p:cNvSpPr>
            <p:nvPr/>
          </p:nvSpPr>
          <p:spPr bwMode="auto">
            <a:xfrm>
              <a:off x="2688" y="21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F</a:t>
              </a:r>
            </a:p>
          </p:txBody>
        </p:sp>
        <p:sp>
          <p:nvSpPr>
            <p:cNvPr id="6" name="Oval 6"/>
            <p:cNvSpPr>
              <a:spLocks noChangeArrowheads="1"/>
            </p:cNvSpPr>
            <p:nvPr/>
          </p:nvSpPr>
          <p:spPr bwMode="auto">
            <a:xfrm>
              <a:off x="124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B</a:t>
              </a:r>
            </a:p>
          </p:txBody>
        </p:sp>
        <p:sp>
          <p:nvSpPr>
            <p:cNvPr id="7" name="Oval 7"/>
            <p:cNvSpPr>
              <a:spLocks noChangeArrowheads="1"/>
            </p:cNvSpPr>
            <p:nvPr/>
          </p:nvSpPr>
          <p:spPr bwMode="auto">
            <a:xfrm>
              <a:off x="412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H</a:t>
              </a:r>
            </a:p>
          </p:txBody>
        </p:sp>
        <p:sp>
          <p:nvSpPr>
            <p:cNvPr id="8" name="Oval 8"/>
            <p:cNvSpPr>
              <a:spLocks noChangeArrowheads="1"/>
            </p:cNvSpPr>
            <p:nvPr/>
          </p:nvSpPr>
          <p:spPr bwMode="auto">
            <a:xfrm>
              <a:off x="484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K</a:t>
              </a:r>
            </a:p>
          </p:txBody>
        </p:sp>
        <p:sp>
          <p:nvSpPr>
            <p:cNvPr id="9" name="Oval 9"/>
            <p:cNvSpPr>
              <a:spLocks noChangeArrowheads="1"/>
            </p:cNvSpPr>
            <p:nvPr/>
          </p:nvSpPr>
          <p:spPr bwMode="auto">
            <a:xfrm>
              <a:off x="196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D</a:t>
              </a:r>
            </a:p>
          </p:txBody>
        </p:sp>
        <p:sp>
          <p:nvSpPr>
            <p:cNvPr id="10" name="Oval 10"/>
            <p:cNvSpPr>
              <a:spLocks noChangeArrowheads="1"/>
            </p:cNvSpPr>
            <p:nvPr/>
          </p:nvSpPr>
          <p:spPr bwMode="auto">
            <a:xfrm>
              <a:off x="52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A</a:t>
              </a:r>
            </a:p>
          </p:txBody>
        </p:sp>
        <p:cxnSp>
          <p:nvCxnSpPr>
            <p:cNvPr id="11" name="AutoShape 11"/>
            <p:cNvCxnSpPr>
              <a:cxnSpLocks noChangeShapeType="1"/>
              <a:stCxn id="10" idx="7"/>
              <a:endCxn id="6" idx="3"/>
            </p:cNvCxnSpPr>
            <p:nvPr/>
          </p:nvCxnSpPr>
          <p:spPr bwMode="auto">
            <a:xfrm flipV="1">
              <a:off x="8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2" name="AutoShape 12"/>
            <p:cNvCxnSpPr>
              <a:cxnSpLocks noChangeShapeType="1"/>
              <a:stCxn id="6" idx="5"/>
              <a:endCxn id="9" idx="1"/>
            </p:cNvCxnSpPr>
            <p:nvPr/>
          </p:nvCxnSpPr>
          <p:spPr bwMode="auto">
            <a:xfrm>
              <a:off x="157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3" name="AutoShape 13"/>
            <p:cNvCxnSpPr>
              <a:cxnSpLocks noChangeShapeType="1"/>
              <a:stCxn id="6" idx="7"/>
              <a:endCxn id="5" idx="3"/>
            </p:cNvCxnSpPr>
            <p:nvPr/>
          </p:nvCxnSpPr>
          <p:spPr bwMode="auto">
            <a:xfrm flipV="1">
              <a:off x="157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7" idx="1"/>
            </p:cNvCxnSpPr>
            <p:nvPr/>
          </p:nvCxnSpPr>
          <p:spPr bwMode="auto">
            <a:xfrm>
              <a:off x="301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7" idx="5"/>
              <a:endCxn id="8" idx="1"/>
            </p:cNvCxnSpPr>
            <p:nvPr/>
          </p:nvCxnSpPr>
          <p:spPr bwMode="auto">
            <a:xfrm>
              <a:off x="44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grpSp>
      <p:sp>
        <p:nvSpPr>
          <p:cNvPr id="17" name="Slide Number Placeholder 16"/>
          <p:cNvSpPr>
            <a:spLocks noGrp="1"/>
          </p:cNvSpPr>
          <p:nvPr>
            <p:ph type="sldNum" sz="quarter" idx="12"/>
          </p:nvPr>
        </p:nvSpPr>
        <p:spPr/>
        <p:txBody>
          <a:bodyPr/>
          <a:lstStyle/>
          <a:p>
            <a:fld id="{D503CD99-146E-4B12-A886-CB06D1FDEB82}" type="slidenum">
              <a:rPr lang="en-US" smtClean="0"/>
              <a:t>25</a:t>
            </a:fld>
            <a:endParaRPr lang="en-US" dirty="0"/>
          </a:p>
        </p:txBody>
      </p:sp>
    </p:spTree>
    <p:extLst>
      <p:ext uri="{BB962C8B-B14F-4D97-AF65-F5344CB8AC3E}">
        <p14:creationId xmlns:p14="http://schemas.microsoft.com/office/powerpoint/2010/main" val="400613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Preorder Traversal</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773238"/>
            <a:ext cx="81788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 y="6021388"/>
            <a:ext cx="80724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D503CD99-146E-4B12-A886-CB06D1FDEB82}" type="slidenum">
              <a:rPr lang="en-US" smtClean="0"/>
              <a:t>26</a:t>
            </a:fld>
            <a:endParaRPr lang="en-US" dirty="0"/>
          </a:p>
        </p:txBody>
      </p:sp>
    </p:spTree>
    <p:extLst>
      <p:ext uri="{BB962C8B-B14F-4D97-AF65-F5344CB8AC3E}">
        <p14:creationId xmlns:p14="http://schemas.microsoft.com/office/powerpoint/2010/main" val="321517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Postorder Traversal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Let </a:t>
                </a:r>
                <a:r>
                  <a:rPr lang="en-US" dirty="0"/>
                  <a:t>T be an ordered rooted tree with root </a:t>
                </a:r>
                <a:r>
                  <a:rPr lang="en-US" b="1" i="1" dirty="0"/>
                  <a:t>r</a:t>
                </a:r>
                <a:r>
                  <a:rPr lang="en-US" dirty="0"/>
                  <a:t> and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 …</m:t>
                    </m:r>
                    <m:r>
                      <a:rPr lang="en-US" i="1" dirty="0" err="1">
                        <a:latin typeface="Cambria Math"/>
                      </a:rPr>
                      <m:t>𝑇</m:t>
                    </m:r>
                    <m:r>
                      <a:rPr lang="en-US" i="1" baseline="-25000" dirty="0" err="1">
                        <a:latin typeface="Cambria Math"/>
                      </a:rPr>
                      <m:t>𝑛</m:t>
                    </m:r>
                  </m:oMath>
                </a14:m>
                <a:r>
                  <a:rPr lang="en-US" dirty="0"/>
                  <a:t> are the </a:t>
                </a:r>
                <a:r>
                  <a:rPr lang="en-US" dirty="0" err="1"/>
                  <a:t>subtrees</a:t>
                </a:r>
                <a:r>
                  <a:rPr lang="en-US" dirty="0"/>
                  <a:t> at </a:t>
                </a:r>
                <a:r>
                  <a:rPr lang="en-US" b="1" i="1" dirty="0"/>
                  <a:t>r </a:t>
                </a:r>
                <a:r>
                  <a:rPr lang="en-US" dirty="0"/>
                  <a:t>from left to right. The </a:t>
                </a:r>
                <a:r>
                  <a:rPr lang="en-US" dirty="0" err="1" smtClean="0"/>
                  <a:t>postorder</a:t>
                </a:r>
                <a:r>
                  <a:rPr lang="en-US" dirty="0" smtClean="0"/>
                  <a:t> </a:t>
                </a:r>
                <a:r>
                  <a:rPr lang="en-US" dirty="0"/>
                  <a:t>traversal begins by traversing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oMath>
                </a14:m>
                <a:r>
                  <a:rPr lang="en-US" dirty="0"/>
                  <a:t>in </a:t>
                </a:r>
                <a:r>
                  <a:rPr lang="en-US" dirty="0" err="1"/>
                  <a:t>postorder</a:t>
                </a:r>
                <a:r>
                  <a:rPr lang="en-US" dirty="0"/>
                  <a:t>, then </a:t>
                </a:r>
                <a14:m>
                  <m:oMath xmlns:m="http://schemas.openxmlformats.org/officeDocument/2006/math">
                    <m:r>
                      <a:rPr lang="en-US" i="1" dirty="0" smtClean="0">
                        <a:latin typeface="Cambria Math"/>
                      </a:rPr>
                      <m:t>𝑇</m:t>
                    </m:r>
                    <m:r>
                      <a:rPr lang="en-US" i="1" baseline="-25000" dirty="0">
                        <a:latin typeface="Cambria Math"/>
                      </a:rPr>
                      <m:t>2</m:t>
                    </m:r>
                  </m:oMath>
                </a14:m>
                <a:r>
                  <a:rPr lang="en-US" dirty="0"/>
                  <a:t> in </a:t>
                </a:r>
                <a:r>
                  <a:rPr lang="en-US" dirty="0" err="1"/>
                  <a:t>postorder</a:t>
                </a:r>
                <a:r>
                  <a:rPr lang="en-US" dirty="0"/>
                  <a:t>, then </a:t>
                </a:r>
                <a14:m>
                  <m:oMath xmlns:m="http://schemas.openxmlformats.org/officeDocument/2006/math">
                    <m:r>
                      <a:rPr lang="en-US" i="1" dirty="0" smtClean="0">
                        <a:latin typeface="Cambria Math"/>
                      </a:rPr>
                      <m:t>𝑇</m:t>
                    </m:r>
                    <m:r>
                      <a:rPr lang="en-US" i="1" baseline="-25000" dirty="0">
                        <a:latin typeface="Cambria Math"/>
                      </a:rPr>
                      <m:t>3</m:t>
                    </m:r>
                    <m:r>
                      <a:rPr lang="en-US" i="1" dirty="0">
                        <a:latin typeface="Cambria Math"/>
                      </a:rPr>
                      <m:t> </m:t>
                    </m:r>
                  </m:oMath>
                </a14:m>
                <a:r>
                  <a:rPr lang="en-US" dirty="0"/>
                  <a:t>in </a:t>
                </a:r>
                <a:r>
                  <a:rPr lang="en-US" dirty="0" err="1"/>
                  <a:t>postorder</a:t>
                </a:r>
                <a:r>
                  <a:rPr lang="en-US" dirty="0"/>
                  <a:t>, . . . , and finally </a:t>
                </a:r>
                <a14:m>
                  <m:oMath xmlns:m="http://schemas.openxmlformats.org/officeDocument/2006/math">
                    <m:r>
                      <a:rPr lang="en-US" i="1" dirty="0" smtClean="0">
                        <a:latin typeface="Cambria Math"/>
                      </a:rPr>
                      <m:t>𝑇</m:t>
                    </m:r>
                    <m:r>
                      <a:rPr lang="en-US" i="1" baseline="-25000" dirty="0" err="1">
                        <a:latin typeface="Cambria Math"/>
                      </a:rPr>
                      <m:t>𝑛</m:t>
                    </m:r>
                  </m:oMath>
                </a14:m>
                <a:r>
                  <a:rPr lang="en-US" dirty="0"/>
                  <a:t> in </a:t>
                </a:r>
                <a:r>
                  <a:rPr lang="en-US" dirty="0" err="1"/>
                  <a:t>postorder</a:t>
                </a:r>
                <a:r>
                  <a:rPr lang="en-US" dirty="0"/>
                  <a:t> and ends by visiting </a:t>
                </a:r>
                <a:r>
                  <a:rPr lang="en-US" b="1" i="1" dirty="0"/>
                  <a:t>r</a:t>
                </a:r>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593"/>
                </a:stretch>
              </a:blipFill>
            </p:spPr>
            <p:txBody>
              <a:bodyPr/>
              <a:lstStyle/>
              <a:p>
                <a:r>
                  <a:rPr lang="en-US">
                    <a:noFill/>
                  </a:rPr>
                  <a:t> </a:t>
                </a:r>
              </a:p>
            </p:txBody>
          </p:sp>
        </mc:Fallback>
      </mc:AlternateContent>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7819" t="21875" r="40264" b="37240"/>
          <a:stretch/>
        </p:blipFill>
        <p:spPr bwMode="auto">
          <a:xfrm>
            <a:off x="1066800" y="3581400"/>
            <a:ext cx="6934200" cy="3256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27</a:t>
            </a:fld>
            <a:endParaRPr lang="en-US" dirty="0"/>
          </a:p>
        </p:txBody>
      </p:sp>
    </p:spTree>
    <p:extLst>
      <p:ext uri="{BB962C8B-B14F-4D97-AF65-F5344CB8AC3E}">
        <p14:creationId xmlns:p14="http://schemas.microsoft.com/office/powerpoint/2010/main" val="4631985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Postorder Traversal</a:t>
            </a:r>
          </a:p>
        </p:txBody>
      </p:sp>
      <p:sp>
        <p:nvSpPr>
          <p:cNvPr id="3" name="Content Placeholder 2"/>
          <p:cNvSpPr>
            <a:spLocks noGrp="1"/>
          </p:cNvSpPr>
          <p:nvPr>
            <p:ph idx="1"/>
          </p:nvPr>
        </p:nvSpPr>
        <p:spPr/>
        <p:txBody>
          <a:bodyPr/>
          <a:lstStyle/>
          <a:p>
            <a:r>
              <a:rPr lang="en-US" dirty="0" smtClean="0"/>
              <a:t>Left</a:t>
            </a:r>
            <a:r>
              <a:rPr lang="en-US" dirty="0"/>
              <a:t>, right, root</a:t>
            </a:r>
          </a:p>
          <a:p>
            <a:r>
              <a:rPr lang="en-US" dirty="0"/>
              <a:t>Example:</a:t>
            </a:r>
          </a:p>
          <a:p>
            <a:endParaRPr lang="en-US" dirty="0"/>
          </a:p>
          <a:p>
            <a:endParaRPr lang="en-US" dirty="0"/>
          </a:p>
          <a:p>
            <a:endParaRPr lang="en-US" dirty="0"/>
          </a:p>
          <a:p>
            <a:endParaRPr lang="en-US" dirty="0" smtClean="0"/>
          </a:p>
          <a:p>
            <a:endParaRPr lang="en-US" dirty="0"/>
          </a:p>
          <a:p>
            <a:endParaRPr lang="en-US" dirty="0" smtClean="0"/>
          </a:p>
          <a:p>
            <a:endParaRPr lang="en-US" dirty="0"/>
          </a:p>
          <a:p>
            <a:r>
              <a:rPr lang="en-US" dirty="0"/>
              <a:t>A, D, B, K, H, F</a:t>
            </a:r>
          </a:p>
          <a:p>
            <a:endParaRPr lang="en-US" dirty="0"/>
          </a:p>
        </p:txBody>
      </p:sp>
      <p:grpSp>
        <p:nvGrpSpPr>
          <p:cNvPr id="4" name="Group 4"/>
          <p:cNvGrpSpPr>
            <a:grpSpLocks/>
          </p:cNvGrpSpPr>
          <p:nvPr/>
        </p:nvGrpSpPr>
        <p:grpSpPr bwMode="auto">
          <a:xfrm>
            <a:off x="838200" y="2667000"/>
            <a:ext cx="7467600" cy="2514600"/>
            <a:chOff x="528" y="2160"/>
            <a:chExt cx="4704" cy="1584"/>
          </a:xfrm>
        </p:grpSpPr>
        <p:sp>
          <p:nvSpPr>
            <p:cNvPr id="5" name="Oval 5"/>
            <p:cNvSpPr>
              <a:spLocks noChangeArrowheads="1"/>
            </p:cNvSpPr>
            <p:nvPr/>
          </p:nvSpPr>
          <p:spPr bwMode="auto">
            <a:xfrm>
              <a:off x="2688" y="21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F</a:t>
              </a:r>
            </a:p>
          </p:txBody>
        </p:sp>
        <p:sp>
          <p:nvSpPr>
            <p:cNvPr id="6" name="Oval 6"/>
            <p:cNvSpPr>
              <a:spLocks noChangeArrowheads="1"/>
            </p:cNvSpPr>
            <p:nvPr/>
          </p:nvSpPr>
          <p:spPr bwMode="auto">
            <a:xfrm>
              <a:off x="124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B</a:t>
              </a:r>
            </a:p>
          </p:txBody>
        </p:sp>
        <p:sp>
          <p:nvSpPr>
            <p:cNvPr id="7" name="Oval 7"/>
            <p:cNvSpPr>
              <a:spLocks noChangeArrowheads="1"/>
            </p:cNvSpPr>
            <p:nvPr/>
          </p:nvSpPr>
          <p:spPr bwMode="auto">
            <a:xfrm>
              <a:off x="4128" y="2736"/>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H</a:t>
              </a:r>
            </a:p>
          </p:txBody>
        </p:sp>
        <p:sp>
          <p:nvSpPr>
            <p:cNvPr id="8" name="Oval 8"/>
            <p:cNvSpPr>
              <a:spLocks noChangeArrowheads="1"/>
            </p:cNvSpPr>
            <p:nvPr/>
          </p:nvSpPr>
          <p:spPr bwMode="auto">
            <a:xfrm>
              <a:off x="484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K</a:t>
              </a:r>
            </a:p>
          </p:txBody>
        </p:sp>
        <p:sp>
          <p:nvSpPr>
            <p:cNvPr id="9" name="Oval 9"/>
            <p:cNvSpPr>
              <a:spLocks noChangeArrowheads="1"/>
            </p:cNvSpPr>
            <p:nvPr/>
          </p:nvSpPr>
          <p:spPr bwMode="auto">
            <a:xfrm>
              <a:off x="196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D</a:t>
              </a:r>
            </a:p>
          </p:txBody>
        </p:sp>
        <p:sp>
          <p:nvSpPr>
            <p:cNvPr id="10" name="Oval 10"/>
            <p:cNvSpPr>
              <a:spLocks noChangeArrowheads="1"/>
            </p:cNvSpPr>
            <p:nvPr/>
          </p:nvSpPr>
          <p:spPr bwMode="auto">
            <a:xfrm>
              <a:off x="528" y="3360"/>
              <a:ext cx="384" cy="384"/>
            </a:xfrm>
            <a:prstGeom prst="ellipse">
              <a:avLst/>
            </a:prstGeom>
            <a:solidFill>
              <a:srgbClr val="FFFFFF"/>
            </a:solidFill>
            <a:ln w="38100">
              <a:solidFill>
                <a:schemeClr val="accent1"/>
              </a:solidFill>
              <a:round/>
              <a:headEnd/>
              <a:tailEnd/>
            </a:ln>
          </p:spPr>
          <p:txBody>
            <a:bodyPr wrap="none" anchor="ctr"/>
            <a:lstStyle/>
            <a:p>
              <a:pPr algn="ctr"/>
              <a:r>
                <a:rPr lang="en-US" sz="2800" b="1">
                  <a:latin typeface="Courier New" pitchFamily="49" charset="0"/>
                </a:rPr>
                <a:t>A</a:t>
              </a:r>
            </a:p>
          </p:txBody>
        </p:sp>
        <p:cxnSp>
          <p:nvCxnSpPr>
            <p:cNvPr id="11" name="AutoShape 11"/>
            <p:cNvCxnSpPr>
              <a:cxnSpLocks noChangeShapeType="1"/>
              <a:stCxn id="10" idx="7"/>
              <a:endCxn id="6" idx="3"/>
            </p:cNvCxnSpPr>
            <p:nvPr/>
          </p:nvCxnSpPr>
          <p:spPr bwMode="auto">
            <a:xfrm flipV="1">
              <a:off x="8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2" name="AutoShape 12"/>
            <p:cNvCxnSpPr>
              <a:cxnSpLocks noChangeShapeType="1"/>
              <a:stCxn id="6" idx="5"/>
              <a:endCxn id="9" idx="1"/>
            </p:cNvCxnSpPr>
            <p:nvPr/>
          </p:nvCxnSpPr>
          <p:spPr bwMode="auto">
            <a:xfrm>
              <a:off x="157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3" name="AutoShape 13"/>
            <p:cNvCxnSpPr>
              <a:cxnSpLocks noChangeShapeType="1"/>
              <a:stCxn id="6" idx="7"/>
              <a:endCxn id="5" idx="3"/>
            </p:cNvCxnSpPr>
            <p:nvPr/>
          </p:nvCxnSpPr>
          <p:spPr bwMode="auto">
            <a:xfrm flipV="1">
              <a:off x="157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7" idx="1"/>
            </p:cNvCxnSpPr>
            <p:nvPr/>
          </p:nvCxnSpPr>
          <p:spPr bwMode="auto">
            <a:xfrm>
              <a:off x="3016" y="2500"/>
              <a:ext cx="1168" cy="280"/>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a:stCxn id="7" idx="5"/>
              <a:endCxn id="8" idx="1"/>
            </p:cNvCxnSpPr>
            <p:nvPr/>
          </p:nvCxnSpPr>
          <p:spPr bwMode="auto">
            <a:xfrm>
              <a:off x="4456" y="3076"/>
              <a:ext cx="448" cy="328"/>
            </a:xfrm>
            <a:prstGeom prst="straightConnector1">
              <a:avLst/>
            </a:prstGeom>
            <a:noFill/>
            <a:ln w="38100">
              <a:solidFill>
                <a:schemeClr val="accent1"/>
              </a:solidFill>
              <a:round/>
              <a:headEnd/>
              <a:tailEnd/>
            </a:ln>
            <a:extLst>
              <a:ext uri="{909E8E84-426E-40DD-AFC4-6F175D3DCCD1}">
                <a14:hiddenFill xmlns:a14="http://schemas.microsoft.com/office/drawing/2010/main">
                  <a:noFill/>
                </a14:hiddenFill>
              </a:ext>
            </a:extLst>
          </p:spPr>
        </p:cxnSp>
      </p:grpSp>
      <p:sp>
        <p:nvSpPr>
          <p:cNvPr id="17" name="Slide Number Placeholder 16"/>
          <p:cNvSpPr>
            <a:spLocks noGrp="1"/>
          </p:cNvSpPr>
          <p:nvPr>
            <p:ph type="sldNum" sz="quarter" idx="12"/>
          </p:nvPr>
        </p:nvSpPr>
        <p:spPr/>
        <p:txBody>
          <a:bodyPr/>
          <a:lstStyle/>
          <a:p>
            <a:fld id="{D503CD99-146E-4B12-A886-CB06D1FDEB82}" type="slidenum">
              <a:rPr lang="en-US" smtClean="0"/>
              <a:t>28</a:t>
            </a:fld>
            <a:endParaRPr lang="en-US" dirty="0"/>
          </a:p>
        </p:txBody>
      </p:sp>
    </p:spTree>
    <p:extLst>
      <p:ext uri="{BB962C8B-B14F-4D97-AF65-F5344CB8AC3E}">
        <p14:creationId xmlns:p14="http://schemas.microsoft.com/office/powerpoint/2010/main" val="46319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Postorder Traversal</a:t>
            </a:r>
          </a:p>
        </p:txBody>
      </p:sp>
      <p:pic>
        <p:nvPicPr>
          <p:cNvPr id="4"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34129"/>
            <a:ext cx="8229600" cy="4808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750" y="6149975"/>
            <a:ext cx="81359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D503CD99-146E-4B12-A886-CB06D1FDEB82}" type="slidenum">
              <a:rPr lang="en-US" smtClean="0"/>
              <a:t>29</a:t>
            </a:fld>
            <a:endParaRPr lang="en-US" dirty="0"/>
          </a:p>
        </p:txBody>
      </p:sp>
    </p:spTree>
    <p:extLst>
      <p:ext uri="{BB962C8B-B14F-4D97-AF65-F5344CB8AC3E}">
        <p14:creationId xmlns:p14="http://schemas.microsoft.com/office/powerpoint/2010/main" val="385144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Binary Search Trees</a:t>
            </a:r>
          </a:p>
        </p:txBody>
      </p:sp>
      <p:sp>
        <p:nvSpPr>
          <p:cNvPr id="3" name="Content Placeholder 2"/>
          <p:cNvSpPr>
            <a:spLocks noGrp="1"/>
          </p:cNvSpPr>
          <p:nvPr>
            <p:ph idx="1"/>
          </p:nvPr>
        </p:nvSpPr>
        <p:spPr/>
        <p:txBody>
          <a:bodyPr/>
          <a:lstStyle/>
          <a:p>
            <a:r>
              <a:rPr lang="en-US" dirty="0"/>
              <a:t>A </a:t>
            </a:r>
            <a:r>
              <a:rPr lang="en-US" dirty="0" smtClean="0"/>
              <a:t>Binary search tree is </a:t>
            </a:r>
            <a:r>
              <a:rPr lang="en-US" dirty="0"/>
              <a:t>a binary tree in symmetric order</a:t>
            </a:r>
            <a:r>
              <a:rPr lang="en-US" dirty="0" smtClean="0"/>
              <a:t>.</a:t>
            </a:r>
          </a:p>
          <a:p>
            <a:r>
              <a:rPr lang="en-US" dirty="0"/>
              <a:t>Symmetric order means that:</a:t>
            </a:r>
          </a:p>
          <a:p>
            <a:pPr lvl="1"/>
            <a:r>
              <a:rPr lang="en-US" sz="2400" dirty="0" smtClean="0"/>
              <a:t>every </a:t>
            </a:r>
            <a:r>
              <a:rPr lang="en-US" sz="2400" dirty="0"/>
              <a:t>node has a key</a:t>
            </a:r>
          </a:p>
          <a:p>
            <a:pPr lvl="1"/>
            <a:r>
              <a:rPr lang="en-US" sz="2400" dirty="0" smtClean="0"/>
              <a:t>every </a:t>
            </a:r>
            <a:r>
              <a:rPr lang="en-US" sz="2400" dirty="0"/>
              <a:t>node’s key is</a:t>
            </a:r>
          </a:p>
          <a:p>
            <a:pPr lvl="2"/>
            <a:r>
              <a:rPr lang="en-US" sz="2000" dirty="0"/>
              <a:t>larger than all keys in its left </a:t>
            </a:r>
            <a:r>
              <a:rPr lang="en-US" sz="2000" dirty="0" err="1"/>
              <a:t>subtree</a:t>
            </a:r>
            <a:endParaRPr lang="en-US" sz="2000" dirty="0"/>
          </a:p>
          <a:p>
            <a:pPr lvl="2"/>
            <a:r>
              <a:rPr lang="en-US" sz="2000" dirty="0"/>
              <a:t>smaller than all keys in its right </a:t>
            </a:r>
            <a:r>
              <a:rPr lang="en-US" sz="2000" dirty="0" err="1"/>
              <a:t>subtree</a:t>
            </a:r>
            <a:endParaRPr lang="en-US" sz="20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238" y="4229100"/>
            <a:ext cx="3819525"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D503CD99-146E-4B12-A886-CB06D1FDEB82}" type="slidenum">
              <a:rPr lang="en-US" smtClean="0"/>
              <a:t>30</a:t>
            </a:fld>
            <a:endParaRPr lang="en-US" dirty="0"/>
          </a:p>
        </p:txBody>
      </p:sp>
    </p:spTree>
    <p:extLst>
      <p:ext uri="{BB962C8B-B14F-4D97-AF65-F5344CB8AC3E}">
        <p14:creationId xmlns:p14="http://schemas.microsoft.com/office/powerpoint/2010/main" val="19749762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Infix, Prefix and Postfix Notation</a:t>
            </a:r>
          </a:p>
        </p:txBody>
      </p:sp>
      <p:sp>
        <p:nvSpPr>
          <p:cNvPr id="3" name="Content Placeholder 2"/>
          <p:cNvSpPr>
            <a:spLocks noGrp="1"/>
          </p:cNvSpPr>
          <p:nvPr>
            <p:ph idx="1"/>
          </p:nvPr>
        </p:nvSpPr>
        <p:spPr/>
        <p:txBody>
          <a:bodyPr>
            <a:normAutofit/>
          </a:bodyPr>
          <a:lstStyle/>
          <a:p>
            <a:r>
              <a:rPr lang="en-US" dirty="0" smtClean="0"/>
              <a:t>We can represent complicated expressions using ordered rooted tree.</a:t>
            </a:r>
          </a:p>
          <a:p>
            <a:r>
              <a:rPr lang="en-US" dirty="0"/>
              <a:t>T</a:t>
            </a:r>
            <a:r>
              <a:rPr lang="en-US" dirty="0" smtClean="0"/>
              <a:t>he representation of </a:t>
            </a:r>
            <a:r>
              <a:rPr lang="en-US" dirty="0"/>
              <a:t>an arithmetic expression involving </a:t>
            </a:r>
            <a:r>
              <a:rPr lang="en-US" dirty="0" smtClean="0"/>
              <a:t>operators </a:t>
            </a:r>
            <a:r>
              <a:rPr lang="en-US" dirty="0"/>
              <a:t>+ (addition), − (subtraction), </a:t>
            </a:r>
            <a:r>
              <a:rPr lang="en-US" dirty="0" smtClean="0"/>
              <a:t>∗ (</a:t>
            </a:r>
            <a:r>
              <a:rPr lang="en-US" dirty="0"/>
              <a:t>multiplication), </a:t>
            </a:r>
            <a:endParaRPr lang="en-US" dirty="0" smtClean="0"/>
          </a:p>
          <a:p>
            <a:pPr marL="0" indent="0">
              <a:buNone/>
            </a:pPr>
            <a:r>
              <a:rPr lang="en-US" dirty="0"/>
              <a:t> </a:t>
            </a:r>
            <a:r>
              <a:rPr lang="en-US" dirty="0" smtClean="0"/>
              <a:t>  / </a:t>
            </a:r>
            <a:r>
              <a:rPr lang="en-US" dirty="0"/>
              <a:t>(division), and ↑ (exponentiation). </a:t>
            </a:r>
            <a:endParaRPr lang="en-US" dirty="0" smtClean="0"/>
          </a:p>
          <a:p>
            <a:r>
              <a:rPr lang="en-US" dirty="0" smtClean="0"/>
              <a:t>An </a:t>
            </a:r>
            <a:r>
              <a:rPr lang="en-US" dirty="0"/>
              <a:t>ordered rooted tree can be used to represent such expressions, </a:t>
            </a:r>
            <a:r>
              <a:rPr lang="en-US" dirty="0" smtClean="0"/>
              <a:t>where the </a:t>
            </a:r>
            <a:r>
              <a:rPr lang="en-US" dirty="0"/>
              <a:t>internal vertices represent operations, and the leaves represent the variables or numbers</a:t>
            </a:r>
            <a:r>
              <a:rPr lang="en-US" dirty="0" smtClean="0"/>
              <a:t>.</a:t>
            </a:r>
          </a:p>
          <a:p>
            <a:r>
              <a:rPr lang="en-US" dirty="0" smtClean="0"/>
              <a:t>Use parentheses to indicate the order of the operations.</a:t>
            </a:r>
            <a:endParaRPr lang="en-US" dirty="0"/>
          </a:p>
          <a:p>
            <a:r>
              <a:rPr lang="en-US" dirty="0"/>
              <a:t>Each operation operates on its left and right </a:t>
            </a:r>
            <a:r>
              <a:rPr lang="en-US" dirty="0" smtClean="0"/>
              <a:t>sub trees </a:t>
            </a:r>
            <a:r>
              <a:rPr lang="en-US" dirty="0"/>
              <a:t>(in that order).</a:t>
            </a:r>
          </a:p>
        </p:txBody>
      </p:sp>
      <p:sp>
        <p:nvSpPr>
          <p:cNvPr id="5" name="Slide Number Placeholder 4"/>
          <p:cNvSpPr>
            <a:spLocks noGrp="1"/>
          </p:cNvSpPr>
          <p:nvPr>
            <p:ph type="sldNum" sz="quarter" idx="12"/>
          </p:nvPr>
        </p:nvSpPr>
        <p:spPr/>
        <p:txBody>
          <a:bodyPr/>
          <a:lstStyle/>
          <a:p>
            <a:fld id="{D503CD99-146E-4B12-A886-CB06D1FDEB82}" type="slidenum">
              <a:rPr lang="en-US" smtClean="0"/>
              <a:t>31</a:t>
            </a:fld>
            <a:endParaRPr lang="en-US" dirty="0"/>
          </a:p>
        </p:txBody>
      </p:sp>
    </p:spTree>
    <p:extLst>
      <p:ext uri="{BB962C8B-B14F-4D97-AF65-F5344CB8AC3E}">
        <p14:creationId xmlns:p14="http://schemas.microsoft.com/office/powerpoint/2010/main" val="38980111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What is the ordered rooted tree that represents the expression </a:t>
                </a:r>
                <a14:m>
                  <m:oMath xmlns:m="http://schemas.openxmlformats.org/officeDocument/2006/math">
                    <m:r>
                      <a:rPr lang="en-US" i="1" dirty="0" smtClean="0">
                        <a:latin typeface="Cambria Math"/>
                      </a:rPr>
                      <m:t>((</m:t>
                    </m:r>
                    <m:r>
                      <a:rPr lang="en-US" i="1" dirty="0" smtClean="0">
                        <a:latin typeface="Cambria Math"/>
                      </a:rPr>
                      <m:t>𝑥</m:t>
                    </m:r>
                    <m:r>
                      <a:rPr lang="en-US" i="1" dirty="0" smtClean="0">
                        <a:latin typeface="Cambria Math"/>
                      </a:rPr>
                      <m:t> + </m:t>
                    </m:r>
                    <m:r>
                      <a:rPr lang="en-US" i="1" dirty="0" smtClean="0">
                        <a:latin typeface="Cambria Math"/>
                      </a:rPr>
                      <m:t>𝑦</m:t>
                    </m:r>
                    <m:r>
                      <a:rPr lang="en-US" i="1" dirty="0" smtClean="0">
                        <a:latin typeface="Cambria Math"/>
                      </a:rPr>
                      <m:t>)↑2) + ((</m:t>
                    </m:r>
                    <m:r>
                      <a:rPr lang="en-US" i="1" dirty="0" smtClean="0">
                        <a:latin typeface="Cambria Math"/>
                      </a:rPr>
                      <m:t>𝑥</m:t>
                    </m:r>
                    <m:r>
                      <a:rPr lang="en-US" i="1" dirty="0" smtClean="0">
                        <a:latin typeface="Cambria Math"/>
                      </a:rPr>
                      <m:t> − 4)/3)</m:t>
                    </m:r>
                  </m:oMath>
                </a14:m>
                <a:r>
                  <a:rPr lang="en-US"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0560" t="44601" r="48675" b="21840"/>
          <a:stretch/>
        </p:blipFill>
        <p:spPr bwMode="auto">
          <a:xfrm>
            <a:off x="0" y="2800350"/>
            <a:ext cx="396240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7814" t="48508" r="25914" b="26989"/>
          <a:stretch/>
        </p:blipFill>
        <p:spPr bwMode="auto">
          <a:xfrm>
            <a:off x="4114800" y="2324100"/>
            <a:ext cx="5029200" cy="406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D503CD99-146E-4B12-A886-CB06D1FDEB82}" type="slidenum">
              <a:rPr lang="en-US" smtClean="0"/>
              <a:t>32</a:t>
            </a:fld>
            <a:endParaRPr lang="en-US" dirty="0"/>
          </a:p>
        </p:txBody>
      </p:sp>
    </p:spTree>
    <p:extLst>
      <p:ext uri="{BB962C8B-B14F-4D97-AF65-F5344CB8AC3E}">
        <p14:creationId xmlns:p14="http://schemas.microsoft.com/office/powerpoint/2010/main" val="23535225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C00000"/>
                </a:solidFill>
              </a:rPr>
              <a:t>Infix, Prefix and Postfix </a:t>
            </a:r>
            <a:r>
              <a:rPr lang="en-US" sz="3200" dirty="0">
                <a:solidFill>
                  <a:srgbClr val="C00000"/>
                </a:solidFill>
              </a:rPr>
              <a:t>form</a:t>
            </a:r>
          </a:p>
        </p:txBody>
      </p:sp>
      <p:sp>
        <p:nvSpPr>
          <p:cNvPr id="3" name="Content Placeholder 2"/>
          <p:cNvSpPr>
            <a:spLocks noGrp="1"/>
          </p:cNvSpPr>
          <p:nvPr>
            <p:ph idx="1"/>
          </p:nvPr>
        </p:nvSpPr>
        <p:spPr/>
        <p:txBody>
          <a:bodyPr/>
          <a:lstStyle/>
          <a:p>
            <a:r>
              <a:rPr lang="en-US" dirty="0" smtClean="0"/>
              <a:t>Infix Form</a:t>
            </a:r>
          </a:p>
          <a:p>
            <a:pPr lvl="1"/>
            <a:r>
              <a:rPr lang="en-US" dirty="0" smtClean="0"/>
              <a:t>It </a:t>
            </a:r>
            <a:r>
              <a:rPr lang="en-US" dirty="0"/>
              <a:t>is the common arithmetic and logical formula notation, in which operators are written between the </a:t>
            </a:r>
            <a:r>
              <a:rPr lang="en-US" dirty="0" smtClean="0"/>
              <a:t>operands</a:t>
            </a:r>
          </a:p>
          <a:p>
            <a:pPr marL="274320" lvl="1" indent="0">
              <a:buNone/>
            </a:pPr>
            <a:endParaRPr lang="en-US" dirty="0" smtClean="0"/>
          </a:p>
          <a:p>
            <a:r>
              <a:rPr lang="en-US" dirty="0" smtClean="0"/>
              <a:t>Prefix Form</a:t>
            </a:r>
          </a:p>
          <a:p>
            <a:pPr lvl="1"/>
            <a:r>
              <a:rPr lang="en-US" dirty="0" smtClean="0"/>
              <a:t>Also </a:t>
            </a:r>
            <a:r>
              <a:rPr lang="en-US" dirty="0"/>
              <a:t>known as </a:t>
            </a:r>
            <a:r>
              <a:rPr lang="en-US" b="1" dirty="0"/>
              <a:t>Polish notation.</a:t>
            </a:r>
          </a:p>
          <a:p>
            <a:pPr lvl="1"/>
            <a:r>
              <a:rPr lang="en-US" dirty="0"/>
              <a:t>A form of notation for logic, arithmetic, and algebra.</a:t>
            </a:r>
          </a:p>
          <a:p>
            <a:pPr lvl="1"/>
            <a:r>
              <a:rPr lang="en-US" dirty="0"/>
              <a:t> It places operators to the left of their operands</a:t>
            </a:r>
            <a:r>
              <a:rPr lang="en-US" dirty="0" smtClean="0"/>
              <a:t>.</a:t>
            </a:r>
          </a:p>
          <a:p>
            <a:pPr lvl="1"/>
            <a:endParaRPr lang="en-US" dirty="0"/>
          </a:p>
          <a:p>
            <a:r>
              <a:rPr lang="en-US" dirty="0" smtClean="0"/>
              <a:t>Postfix Form</a:t>
            </a:r>
          </a:p>
          <a:p>
            <a:pPr lvl="1"/>
            <a:r>
              <a:rPr lang="en-US" dirty="0"/>
              <a:t>Also known as </a:t>
            </a:r>
            <a:r>
              <a:rPr lang="en-US" b="1" dirty="0"/>
              <a:t>Reverse Polish Notation</a:t>
            </a:r>
            <a:r>
              <a:rPr lang="en-US" dirty="0"/>
              <a:t>.</a:t>
            </a:r>
          </a:p>
          <a:p>
            <a:pPr lvl="1"/>
            <a:r>
              <a:rPr lang="en-US" dirty="0"/>
              <a:t>We obtain the postfix form of an expression by traversing its tree in </a:t>
            </a:r>
            <a:r>
              <a:rPr lang="en-US" b="1" dirty="0" err="1"/>
              <a:t>postorder</a:t>
            </a:r>
            <a:r>
              <a:rPr lang="en-US" dirty="0"/>
              <a:t>.</a:t>
            </a:r>
          </a:p>
          <a:p>
            <a:endParaRPr lang="en-US" b="1" dirty="0"/>
          </a:p>
          <a:p>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33</a:t>
            </a:fld>
            <a:endParaRPr lang="en-US" dirty="0"/>
          </a:p>
        </p:txBody>
      </p:sp>
    </p:spTree>
    <p:extLst>
      <p:ext uri="{BB962C8B-B14F-4D97-AF65-F5344CB8AC3E}">
        <p14:creationId xmlns:p14="http://schemas.microsoft.com/office/powerpoint/2010/main" val="3975294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What is the value of prefix expression </a:t>
                </a:r>
                <a14:m>
                  <m:oMath xmlns:m="http://schemas.openxmlformats.org/officeDocument/2006/math">
                    <m:r>
                      <a:rPr lang="en-US" b="0" i="1" smtClean="0">
                        <a:latin typeface="Cambria Math"/>
                      </a:rPr>
                      <m:t>+−</m:t>
                    </m:r>
                    <m:r>
                      <a:rPr lang="en-US" b="0" i="1" smtClean="0">
                        <a:latin typeface="Cambria Math"/>
                        <a:ea typeface="Cambria Math"/>
                      </a:rPr>
                      <m:t>∗235/↑234</m:t>
                    </m:r>
                    <m:r>
                      <a:rPr lang="en-US" b="0" i="0" smtClean="0">
                        <a:latin typeface="Cambria Math"/>
                        <a:ea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6940" t="27344" r="46559" b="24264"/>
          <a:stretch/>
        </p:blipFill>
        <p:spPr bwMode="auto">
          <a:xfrm>
            <a:off x="2057400" y="2158620"/>
            <a:ext cx="5418117" cy="4419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34</a:t>
            </a:fld>
            <a:endParaRPr lang="en-US" dirty="0"/>
          </a:p>
        </p:txBody>
      </p:sp>
    </p:spTree>
    <p:extLst>
      <p:ext uri="{BB962C8B-B14F-4D97-AF65-F5344CB8AC3E}">
        <p14:creationId xmlns:p14="http://schemas.microsoft.com/office/powerpoint/2010/main" val="4743777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What is the value of postfix </a:t>
                </a:r>
                <a:r>
                  <a:rPr lang="en-US" dirty="0"/>
                  <a:t>expression </a:t>
                </a:r>
                <a14:m>
                  <m:oMath xmlns:m="http://schemas.openxmlformats.org/officeDocument/2006/math">
                    <m:r>
                      <a:rPr lang="en-US" b="0" i="0" smtClean="0">
                        <a:latin typeface="Cambria Math"/>
                      </a:rPr>
                      <m:t>723</m:t>
                    </m:r>
                    <m:r>
                      <a:rPr lang="en-US" i="1">
                        <a:latin typeface="Cambria Math"/>
                        <a:ea typeface="Cambria Math"/>
                      </a:rPr>
                      <m:t>∗</m:t>
                    </m:r>
                    <m:r>
                      <a:rPr lang="en-US" b="0" i="1" smtClean="0">
                        <a:latin typeface="Cambria Math"/>
                        <a:ea typeface="Cambria Math"/>
                      </a:rPr>
                      <m:t>−4</m:t>
                    </m:r>
                    <m:r>
                      <a:rPr lang="en-US" i="1">
                        <a:latin typeface="Cambria Math"/>
                        <a:ea typeface="Cambria Math"/>
                      </a:rPr>
                      <m:t>↑</m:t>
                    </m:r>
                    <m:r>
                      <a:rPr lang="en-US" b="0" i="1" smtClean="0">
                        <a:latin typeface="Cambria Math"/>
                        <a:ea typeface="Cambria Math"/>
                      </a:rPr>
                      <m:t>93/+</m:t>
                    </m:r>
                    <m:r>
                      <a:rPr lang="en-US">
                        <a:latin typeface="Cambria Math"/>
                        <a:ea typeface="Cambria Math"/>
                      </a:rPr>
                      <m:t>.</m:t>
                    </m:r>
                  </m:oMath>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a:stretch>
              </a:blipFill>
            </p:spPr>
            <p:txBody>
              <a:bodyPr/>
              <a:lstStyle/>
              <a:p>
                <a:r>
                  <a:rPr lang="en-US">
                    <a:noFill/>
                  </a:rPr>
                  <a:t> </a:t>
                </a:r>
              </a:p>
            </p:txBody>
          </p:sp>
        </mc:Fallback>
      </mc:AlternateContent>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7833" t="31771" r="14933" b="17969"/>
          <a:stretch/>
        </p:blipFill>
        <p:spPr bwMode="auto">
          <a:xfrm>
            <a:off x="1981200" y="2011926"/>
            <a:ext cx="5791200" cy="48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D503CD99-146E-4B12-A886-CB06D1FDEB82}" type="slidenum">
              <a:rPr lang="en-US" smtClean="0"/>
              <a:t>35</a:t>
            </a:fld>
            <a:endParaRPr lang="en-US" dirty="0"/>
          </a:p>
        </p:txBody>
      </p:sp>
    </p:spTree>
    <p:extLst>
      <p:ext uri="{BB962C8B-B14F-4D97-AF65-F5344CB8AC3E}">
        <p14:creationId xmlns:p14="http://schemas.microsoft.com/office/powerpoint/2010/main" val="36190368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Chapter Exercise</a:t>
            </a:r>
          </a:p>
        </p:txBody>
      </p:sp>
      <p:sp>
        <p:nvSpPr>
          <p:cNvPr id="3" name="Content Placeholder 2"/>
          <p:cNvSpPr>
            <a:spLocks noGrp="1"/>
          </p:cNvSpPr>
          <p:nvPr>
            <p:ph idx="1"/>
          </p:nvPr>
        </p:nvSpPr>
        <p:spPr/>
        <p:txBody>
          <a:bodyPr/>
          <a:lstStyle/>
          <a:p>
            <a:r>
              <a:rPr lang="en-US" dirty="0" smtClean="0"/>
              <a:t>Chapter # 11</a:t>
            </a:r>
          </a:p>
          <a:p>
            <a:r>
              <a:rPr lang="en-US" dirty="0" smtClean="0"/>
              <a:t>Topic # 11.1</a:t>
            </a:r>
          </a:p>
          <a:p>
            <a:r>
              <a:rPr lang="en-US" dirty="0" smtClean="0"/>
              <a:t>Question # 1, 2, 3, 4, 5, 6, 7, 8, 9,10</a:t>
            </a:r>
            <a:endParaRPr lang="en-US" dirty="0"/>
          </a:p>
          <a:p>
            <a:r>
              <a:rPr lang="en-US" dirty="0" smtClean="0"/>
              <a:t>Topic # 11.3</a:t>
            </a:r>
          </a:p>
          <a:p>
            <a:r>
              <a:rPr lang="en-US" dirty="0" smtClean="0"/>
              <a:t>Question # 7 – 18, </a:t>
            </a:r>
            <a:r>
              <a:rPr lang="en-US" dirty="0"/>
              <a:t>23 </a:t>
            </a:r>
            <a:r>
              <a:rPr lang="en-US" dirty="0" smtClean="0"/>
              <a:t>,24</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36</a:t>
            </a:fld>
            <a:endParaRPr lang="en-US" dirty="0"/>
          </a:p>
        </p:txBody>
      </p:sp>
    </p:spTree>
    <p:extLst>
      <p:ext uri="{BB962C8B-B14F-4D97-AF65-F5344CB8AC3E}">
        <p14:creationId xmlns:p14="http://schemas.microsoft.com/office/powerpoint/2010/main" val="198790845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15656</TotalTime>
  <Words>1526</Words>
  <Application>Microsoft Office PowerPoint</Application>
  <PresentationFormat>On-screen Show (4:3)</PresentationFormat>
  <Paragraphs>223</Paragraphs>
  <Slides>36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Cambria Math</vt:lpstr>
      <vt:lpstr>Courier New</vt:lpstr>
      <vt:lpstr>Tahoma</vt:lpstr>
      <vt:lpstr>Clarity</vt:lpstr>
      <vt:lpstr>                              CSD101 - Discrete Structures  (Discrete Mathematics) Fall 2016</vt:lpstr>
      <vt:lpstr>Path</vt:lpstr>
      <vt:lpstr>Circuit</vt:lpstr>
      <vt:lpstr>Connected Graph</vt:lpstr>
      <vt:lpstr>Connected Graph</vt:lpstr>
      <vt:lpstr>Tree</vt:lpstr>
      <vt:lpstr>Example</vt:lpstr>
      <vt:lpstr>Example</vt:lpstr>
      <vt:lpstr>Forest</vt:lpstr>
      <vt:lpstr>Rooted Tree</vt:lpstr>
      <vt:lpstr>Terminologies</vt:lpstr>
      <vt:lpstr>Terminologies</vt:lpstr>
      <vt:lpstr>Example</vt:lpstr>
      <vt:lpstr>Rooted Tree</vt:lpstr>
      <vt:lpstr>Definitions</vt:lpstr>
      <vt:lpstr>Example</vt:lpstr>
      <vt:lpstr>Balanced Trees</vt:lpstr>
      <vt:lpstr>Ordered rooted Tree</vt:lpstr>
      <vt:lpstr>Ordered rooted Tree</vt:lpstr>
      <vt:lpstr>Tree Traversal and Traversal Algorithms</vt:lpstr>
      <vt:lpstr>Inorder Traversal</vt:lpstr>
      <vt:lpstr>In-order Tree Walk</vt:lpstr>
      <vt:lpstr>Example</vt:lpstr>
      <vt:lpstr>Preorder Traversal</vt:lpstr>
      <vt:lpstr>Preorder Traversal</vt:lpstr>
      <vt:lpstr>Preorder Traversal</vt:lpstr>
      <vt:lpstr>Postorder Traversal</vt:lpstr>
      <vt:lpstr>Postorder Traversal</vt:lpstr>
      <vt:lpstr>Postorder Traversal</vt:lpstr>
      <vt:lpstr>Binary Search Trees</vt:lpstr>
      <vt:lpstr>Infix, Prefix and Postfix Notation</vt:lpstr>
      <vt:lpstr>Example</vt:lpstr>
      <vt:lpstr>Infix, Prefix and Postfix form</vt:lpstr>
      <vt:lpstr>Example</vt:lpstr>
      <vt:lpstr>Example</vt:lpstr>
      <vt:lpstr>Chapter Exercise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CSC102 - Discrete Structures  (Discrete Mathematics) Fall 2012</dc:title>
  <dc:creator>Madiha</dc:creator>
  <cp:lastModifiedBy>user</cp:lastModifiedBy>
  <cp:revision>367</cp:revision>
  <cp:lastPrinted>2012-12-18T16:42:37Z</cp:lastPrinted>
  <dcterms:created xsi:type="dcterms:W3CDTF">2012-09-10T10:58:42Z</dcterms:created>
  <dcterms:modified xsi:type="dcterms:W3CDTF">2025-01-15T05:50:29Z</dcterms:modified>
</cp:coreProperties>
</file>