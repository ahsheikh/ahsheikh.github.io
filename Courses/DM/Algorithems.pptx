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9"/>
  </p:notesMasterIdLst>
  <p:handoutMasterIdLst>
    <p:handoutMasterId r:id="rId120"/>
  </p:handoutMasterIdLst>
  <p:sldIdLst>
    <p:sldId id="256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318" r:id="rId28"/>
    <p:sldId id="319" r:id="rId29"/>
    <p:sldId id="320" r:id="rId30"/>
    <p:sldId id="321" r:id="rId31"/>
    <p:sldId id="322" r:id="rId32"/>
    <p:sldId id="323" r:id="rId33"/>
    <p:sldId id="324" r:id="rId34"/>
    <p:sldId id="325" r:id="rId35"/>
    <p:sldId id="326" r:id="rId36"/>
    <p:sldId id="327" r:id="rId37"/>
    <p:sldId id="328" r:id="rId38"/>
    <p:sldId id="329" r:id="rId39"/>
    <p:sldId id="330" r:id="rId40"/>
    <p:sldId id="331" r:id="rId41"/>
    <p:sldId id="332" r:id="rId42"/>
    <p:sldId id="333" r:id="rId43"/>
    <p:sldId id="334" r:id="rId44"/>
    <p:sldId id="335" r:id="rId45"/>
    <p:sldId id="336" r:id="rId46"/>
    <p:sldId id="337" r:id="rId47"/>
    <p:sldId id="338" r:id="rId48"/>
    <p:sldId id="339" r:id="rId49"/>
    <p:sldId id="340" r:id="rId50"/>
    <p:sldId id="341" r:id="rId51"/>
    <p:sldId id="342" r:id="rId52"/>
    <p:sldId id="343" r:id="rId53"/>
    <p:sldId id="344" r:id="rId54"/>
    <p:sldId id="345" r:id="rId55"/>
    <p:sldId id="346" r:id="rId56"/>
    <p:sldId id="347" r:id="rId57"/>
    <p:sldId id="348" r:id="rId58"/>
    <p:sldId id="349" r:id="rId59"/>
    <p:sldId id="350" r:id="rId60"/>
    <p:sldId id="351" r:id="rId61"/>
    <p:sldId id="352" r:id="rId62"/>
    <p:sldId id="353" r:id="rId63"/>
    <p:sldId id="354" r:id="rId64"/>
    <p:sldId id="355" r:id="rId65"/>
    <p:sldId id="356" r:id="rId66"/>
    <p:sldId id="357" r:id="rId67"/>
    <p:sldId id="358" r:id="rId68"/>
    <p:sldId id="359" r:id="rId69"/>
    <p:sldId id="360" r:id="rId70"/>
    <p:sldId id="361" r:id="rId71"/>
    <p:sldId id="362" r:id="rId72"/>
    <p:sldId id="363" r:id="rId73"/>
    <p:sldId id="364" r:id="rId74"/>
    <p:sldId id="365" r:id="rId75"/>
    <p:sldId id="366" r:id="rId76"/>
    <p:sldId id="367" r:id="rId77"/>
    <p:sldId id="368" r:id="rId78"/>
    <p:sldId id="369" r:id="rId79"/>
    <p:sldId id="370" r:id="rId80"/>
    <p:sldId id="371" r:id="rId81"/>
    <p:sldId id="372" r:id="rId82"/>
    <p:sldId id="373" r:id="rId83"/>
    <p:sldId id="374" r:id="rId84"/>
    <p:sldId id="375" r:id="rId85"/>
    <p:sldId id="376" r:id="rId86"/>
    <p:sldId id="377" r:id="rId87"/>
    <p:sldId id="257" r:id="rId88"/>
    <p:sldId id="259" r:id="rId89"/>
    <p:sldId id="260" r:id="rId90"/>
    <p:sldId id="261" r:id="rId91"/>
    <p:sldId id="262" r:id="rId92"/>
    <p:sldId id="289" r:id="rId93"/>
    <p:sldId id="264" r:id="rId94"/>
    <p:sldId id="265" r:id="rId95"/>
    <p:sldId id="290" r:id="rId96"/>
    <p:sldId id="266" r:id="rId97"/>
    <p:sldId id="291" r:id="rId98"/>
    <p:sldId id="267" r:id="rId99"/>
    <p:sldId id="292" r:id="rId100"/>
    <p:sldId id="268" r:id="rId101"/>
    <p:sldId id="269" r:id="rId102"/>
    <p:sldId id="270" r:id="rId103"/>
    <p:sldId id="271" r:id="rId104"/>
    <p:sldId id="287" r:id="rId105"/>
    <p:sldId id="272" r:id="rId106"/>
    <p:sldId id="273" r:id="rId107"/>
    <p:sldId id="274" r:id="rId108"/>
    <p:sldId id="275" r:id="rId109"/>
    <p:sldId id="276" r:id="rId110"/>
    <p:sldId id="286" r:id="rId111"/>
    <p:sldId id="277" r:id="rId112"/>
    <p:sldId id="278" r:id="rId113"/>
    <p:sldId id="279" r:id="rId114"/>
    <p:sldId id="283" r:id="rId115"/>
    <p:sldId id="280" r:id="rId116"/>
    <p:sldId id="284" r:id="rId117"/>
    <p:sldId id="282" r:id="rId118"/>
  </p:sldIdLst>
  <p:sldSz cx="9144000" cy="6858000" type="screen4x3"/>
  <p:notesSz cx="9874250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660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notesMaster" Target="notesMasters/notesMaster1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wmf"/><Relationship Id="rId1" Type="http://schemas.openxmlformats.org/officeDocument/2006/relationships/image" Target="../media/image10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2027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5CAEC4-2688-4F7D-8668-D709795E328E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2027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6021F-1E66-45B5-A4AE-B1769E0287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0096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313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92763" y="0"/>
            <a:ext cx="4279900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50C500-55BD-403D-807A-A44A45C4FFC1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36913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425" y="3228975"/>
            <a:ext cx="7899400" cy="30591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363"/>
            <a:ext cx="4278313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92763" y="6456363"/>
            <a:ext cx="4279900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254F2-9E32-4CAD-9AF0-53BB9F4603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7863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254F2-9E32-4CAD-9AF0-53BB9F46039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923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2E6E0-1F0B-41FA-8E38-8E3F441DC8F8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64B97-079D-4BF2-9948-5AF37A708326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82B36-4480-42FC-9ED4-B8E7E3DEBBA3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ADAA4-BA9E-46A2-98F1-29E9652ACDD8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E0102-6138-49BD-A8A9-1669C9E35408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3B9DF-7824-4E25-98AE-02754F0A201E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6CAB-04ED-4F80-857D-11BF185FE2AB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D664-7469-4EB2-8A2E-935A034EE279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A1E93-0CF8-4D9C-A6BD-6D201C274CC8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0A34B-86AE-4C0D-B941-620F41504608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63365-F800-442F-99E9-906A5E819222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1743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6267DDCB-BC7B-4A8A-BA17-8BE7F787077D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06.wmf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08.wmf"/><Relationship Id="rId4" Type="http://schemas.openxmlformats.org/officeDocument/2006/relationships/oleObject" Target="../embeddings/oleObject3.bin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10.wmf"/><Relationship Id="rId4" Type="http://schemas.openxmlformats.org/officeDocument/2006/relationships/oleObject" Target="../embeddings/oleObject4.bin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cap="none"/>
              <a:t/>
            </a:r>
            <a:br>
              <a:rPr lang="en-US" cap="none"/>
            </a:br>
            <a:r>
              <a:rPr lang="en-US" sz="3200" cap="none" smtClean="0">
                <a:solidFill>
                  <a:srgbClr val="C00000"/>
                </a:solidFill>
              </a:rPr>
              <a:t>Discrete </a:t>
            </a:r>
            <a:r>
              <a:rPr lang="en-US" sz="3200" cap="none" dirty="0">
                <a:solidFill>
                  <a:srgbClr val="C00000"/>
                </a:solidFill>
              </a:rPr>
              <a:t>Structures </a:t>
            </a:r>
            <a:br>
              <a:rPr lang="en-US" sz="3200" cap="none" dirty="0">
                <a:solidFill>
                  <a:srgbClr val="C00000"/>
                </a:solidFill>
              </a:rPr>
            </a:br>
            <a:r>
              <a:rPr lang="en-US" sz="3200" cap="none" dirty="0">
                <a:solidFill>
                  <a:srgbClr val="C00000"/>
                </a:solidFill>
              </a:rPr>
              <a:t>(Discrete Mathematics)</a:t>
            </a:r>
            <a:br>
              <a:rPr lang="en-US" sz="3200" cap="none" dirty="0">
                <a:solidFill>
                  <a:srgbClr val="C00000"/>
                </a:solidFill>
              </a:rPr>
            </a:b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7848600" cy="2362200"/>
          </a:xfrm>
        </p:spPr>
        <p:txBody>
          <a:bodyPr>
            <a:normAutofit/>
          </a:bodyPr>
          <a:lstStyle/>
          <a:p>
            <a:pPr algn="ctr" fontAlgn="base">
              <a:spcAft>
                <a:spcPct val="0"/>
              </a:spcAft>
            </a:pPr>
            <a:endParaRPr lang="en-US" sz="1900" dirty="0">
              <a:solidFill>
                <a:schemeClr val="tx1"/>
              </a:solidFill>
            </a:endParaRPr>
          </a:p>
          <a:p>
            <a:pPr algn="ctr" fontAlgn="base">
              <a:spcAft>
                <a:spcPct val="0"/>
              </a:spcAft>
            </a:pPr>
            <a:r>
              <a:rPr lang="en-US" sz="1900" dirty="0">
                <a:solidFill>
                  <a:schemeClr val="tx1"/>
                </a:solidFill>
              </a:rPr>
              <a:t>Lecture </a:t>
            </a:r>
            <a:r>
              <a:rPr lang="en-US" sz="1900" dirty="0" smtClean="0">
                <a:solidFill>
                  <a:schemeClr val="tx1"/>
                </a:solidFill>
              </a:rPr>
              <a:t>-1 (of)</a:t>
            </a:r>
            <a:r>
              <a:rPr lang="en-US" sz="1900" dirty="0">
                <a:solidFill>
                  <a:schemeClr val="tx1"/>
                </a:solidFill>
              </a:rPr>
              <a:t/>
            </a:r>
            <a:br>
              <a:rPr lang="en-US" sz="1900" dirty="0">
                <a:solidFill>
                  <a:schemeClr val="tx1"/>
                </a:solidFill>
              </a:rPr>
            </a:br>
            <a:r>
              <a:rPr lang="en-US" sz="3200" dirty="0" smtClean="0">
                <a:solidFill>
                  <a:schemeClr val="tx1"/>
                </a:solidFill>
              </a:rPr>
              <a:t>Graphs </a:t>
            </a:r>
          </a:p>
          <a:p>
            <a:pPr algn="ctr" fontAlgn="base">
              <a:spcAft>
                <a:spcPct val="0"/>
              </a:spcAft>
            </a:pPr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728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5903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6776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9943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1876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50509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84086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76878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55255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60364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35736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72734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23330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3208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62873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2437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23528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81473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71315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77930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25837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31266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70205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12932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61351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481436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08707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809045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13134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96608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86910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715102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667624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4235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298279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56677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9162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633277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929531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635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46832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018691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50517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95766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02597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51603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95447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88692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64404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569570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71119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5336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195672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0696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42982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69227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80009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98109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39580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7687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23227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488329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42755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48257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857298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02032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6318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1929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1525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7305068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2594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32773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6146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441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84240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7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7294735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10216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72601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33974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1713576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3828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8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0828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5257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8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088973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2627955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124825" cy="6096000"/>
          <a:chOff x="0" y="0"/>
          <a:chExt cx="8124825" cy="6096000"/>
        </a:xfrm>
      </p:grpSpPr>
      <p:pic>
        <p:nvPicPr>
          <p:cNvPr id="2" name="Page 8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" y="0"/>
            <a:ext cx="914042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5659744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Clr>
                <a:schemeClr val="bg1">
                  <a:lumMod val="65000"/>
                </a:schemeClr>
              </a:buClr>
            </a:pPr>
            <a:r>
              <a:rPr lang="en-US" dirty="0"/>
              <a:t>What are graphs?</a:t>
            </a:r>
          </a:p>
          <a:p>
            <a:pPr marL="457200" lvl="3">
              <a:spcBef>
                <a:spcPct val="0"/>
              </a:spcBef>
              <a:buClr>
                <a:schemeClr val="bg1">
                  <a:lumMod val="65000"/>
                </a:schemeClr>
              </a:buClr>
              <a:buSzPct val="85000"/>
            </a:pPr>
            <a:r>
              <a:rPr lang="en-US" sz="2200" dirty="0"/>
              <a:t>A class of discrete structures useful for representing relations among objects.</a:t>
            </a:r>
          </a:p>
          <a:p>
            <a:pPr marL="457200" lvl="3">
              <a:spcBef>
                <a:spcPct val="0"/>
              </a:spcBef>
              <a:buClr>
                <a:schemeClr val="bg1">
                  <a:lumMod val="65000"/>
                </a:schemeClr>
              </a:buClr>
              <a:buSzPct val="85000"/>
            </a:pPr>
            <a:r>
              <a:rPr lang="en-US" sz="2200" dirty="0"/>
              <a:t>Vertices (nodes) connected by edges.</a:t>
            </a:r>
          </a:p>
          <a:p>
            <a:pPr marL="457200" lvl="3">
              <a:spcBef>
                <a:spcPct val="0"/>
              </a:spcBef>
              <a:buClr>
                <a:schemeClr val="bg1">
                  <a:lumMod val="65000"/>
                </a:schemeClr>
              </a:buClr>
              <a:buSzPct val="85000"/>
            </a:pPr>
            <a:r>
              <a:rPr lang="en-US" sz="2200" dirty="0"/>
              <a:t>Theory about graphs can be used to solve a lot of important problems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88" y="4279900"/>
            <a:ext cx="7620000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0824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The First Graph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lvl="1">
              <a:defRPr/>
            </a:pPr>
            <a:r>
              <a:rPr lang="en-US" sz="2400" dirty="0"/>
              <a:t>The first graph theory paper by Leonhard</a:t>
            </a:r>
          </a:p>
          <a:p>
            <a:pPr marL="182880" lvl="1">
              <a:defRPr/>
            </a:pPr>
            <a:r>
              <a:rPr lang="en-US" sz="2400" dirty="0"/>
              <a:t>Euler in 1736: Seven bridges of </a:t>
            </a:r>
            <a:r>
              <a:rPr lang="en-US" sz="2400" dirty="0" err="1"/>
              <a:t>Königsberg</a:t>
            </a:r>
            <a:r>
              <a:rPr lang="en-US" sz="2400" dirty="0"/>
              <a:t>,</a:t>
            </a:r>
          </a:p>
          <a:p>
            <a:pPr marL="182880" lvl="1">
              <a:defRPr/>
            </a:pPr>
            <a:r>
              <a:rPr lang="en-US" sz="2400" dirty="0"/>
              <a:t>A town with 7 bridges and 4 pieces of land…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475" y="3141663"/>
            <a:ext cx="4294188" cy="338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1255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The Origin of Graph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Clr>
                <a:schemeClr val="bg1">
                  <a:lumMod val="65000"/>
                </a:schemeClr>
              </a:buClr>
            </a:pPr>
            <a:r>
              <a:rPr lang="en-US" dirty="0"/>
              <a:t>Can we travel each bridge exactly once and return to the starting point?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420938"/>
            <a:ext cx="8066088" cy="390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9249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Definition -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lvl="1">
              <a:defRPr/>
            </a:pPr>
            <a:r>
              <a:rPr lang="en-US" sz="2400" dirty="0" smtClean="0"/>
              <a:t>A </a:t>
            </a:r>
            <a:r>
              <a:rPr lang="en-US" sz="2400" dirty="0"/>
              <a:t>graph G = (V, E) is defined by a set of vertices V , and a set of edges E consisting of ordered or unordered pairs of vertices from V.</a:t>
            </a:r>
          </a:p>
          <a:p>
            <a:pPr marL="182880" lvl="1">
              <a:defRPr/>
            </a:pPr>
            <a:r>
              <a:rPr lang="en-US" sz="2400" dirty="0"/>
              <a:t>Thus a graph G = (V, E)</a:t>
            </a:r>
          </a:p>
          <a:p>
            <a:pPr marL="457200" lvl="2">
              <a:defRPr/>
            </a:pPr>
            <a:r>
              <a:rPr lang="en-US" sz="2200" dirty="0"/>
              <a:t>V = set of vertices</a:t>
            </a:r>
          </a:p>
          <a:p>
            <a:pPr marL="457200" lvl="2">
              <a:defRPr/>
            </a:pPr>
            <a:r>
              <a:rPr lang="en-US" sz="2200" dirty="0"/>
              <a:t>E = set of edges = subset of V </a:t>
            </a:r>
            <a:r>
              <a:rPr lang="en-US" sz="2200" dirty="0">
                <a:sym typeface="Symbol" pitchFamily="18" charset="2"/>
              </a:rPr>
              <a:t></a:t>
            </a:r>
            <a:r>
              <a:rPr lang="en-US" sz="2200" dirty="0"/>
              <a:t> </a:t>
            </a:r>
            <a:r>
              <a:rPr lang="en-US" sz="2200" dirty="0" smtClean="0"/>
              <a:t>V</a:t>
            </a:r>
            <a:endParaRPr lang="en-US" sz="2200" dirty="0"/>
          </a:p>
          <a:p>
            <a:r>
              <a:rPr lang="en-US" dirty="0" smtClean="0"/>
              <a:t>Each edge has either one or two vertices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associated with it, called its endpoints.</a:t>
            </a:r>
            <a:endParaRPr lang="en-US" dirty="0"/>
          </a:p>
          <a:p>
            <a:r>
              <a:rPr lang="en-US" dirty="0" smtClean="0"/>
              <a:t>An edge is said to connect its endpoints.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153206"/>
            <a:ext cx="2133600" cy="1866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6206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Simple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lvl="1"/>
            <a:r>
              <a:rPr lang="en-US" sz="2400" dirty="0"/>
              <a:t>A graph in which each edge connects two different vertices and where no two edges connect the same pair of </a:t>
            </a:r>
            <a:r>
              <a:rPr lang="en-US" sz="2400" dirty="0" smtClean="0"/>
              <a:t>vertices.</a:t>
            </a:r>
            <a:endParaRPr lang="en-US" sz="2400" dirty="0"/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2852738"/>
            <a:ext cx="501015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3450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pic>
        <p:nvPicPr>
          <p:cNvPr id="4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2000" y="3024187"/>
            <a:ext cx="7620000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0107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Multigraph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36538" indent="-236538">
              <a:defRPr/>
            </a:pPr>
            <a:r>
              <a:rPr lang="en-US" dirty="0"/>
              <a:t>A multigraph: multiple edges </a:t>
            </a:r>
            <a:endParaRPr lang="en-US" dirty="0" smtClean="0"/>
          </a:p>
          <a:p>
            <a:pPr marL="0" indent="0">
              <a:buNone/>
              <a:defRPr/>
            </a:pPr>
            <a:r>
              <a:rPr lang="en-US" dirty="0" smtClean="0"/>
              <a:t>   </a:t>
            </a:r>
            <a:r>
              <a:rPr lang="en-US" sz="2400" dirty="0" smtClean="0"/>
              <a:t>connecting </a:t>
            </a:r>
            <a:r>
              <a:rPr lang="en-US" sz="2400" dirty="0"/>
              <a:t>the same </a:t>
            </a:r>
            <a:r>
              <a:rPr lang="en-US" sz="2400" dirty="0" smtClean="0"/>
              <a:t>nodes</a:t>
            </a:r>
          </a:p>
          <a:p>
            <a:pPr marL="236538" indent="-236538">
              <a:defRPr/>
            </a:pPr>
            <a:endParaRPr lang="en-US" sz="2400" dirty="0" smtClean="0"/>
          </a:p>
          <a:p>
            <a:pPr marL="236538" indent="-236538">
              <a:defRPr/>
            </a:pPr>
            <a:r>
              <a:rPr lang="en-US" sz="2400" dirty="0" smtClean="0"/>
              <a:t>E.g</a:t>
            </a:r>
            <a:r>
              <a:rPr lang="en-US" sz="2400" dirty="0"/>
              <a:t>., nodes are cities, edges </a:t>
            </a:r>
            <a:r>
              <a:rPr lang="en-US" dirty="0"/>
              <a:t> </a:t>
            </a:r>
            <a:r>
              <a:rPr lang="en-US" sz="2400" dirty="0" smtClean="0"/>
              <a:t>are </a:t>
            </a:r>
          </a:p>
          <a:p>
            <a:pPr marL="0" indent="0">
              <a:buNone/>
              <a:defRPr/>
            </a:pPr>
            <a:r>
              <a:rPr lang="en-US" dirty="0"/>
              <a:t> </a:t>
            </a:r>
            <a:r>
              <a:rPr lang="en-US" dirty="0" smtClean="0"/>
              <a:t>  </a:t>
            </a:r>
            <a:r>
              <a:rPr lang="en-US" sz="2400" dirty="0" smtClean="0"/>
              <a:t>segments </a:t>
            </a:r>
            <a:r>
              <a:rPr lang="en-US" sz="2400" dirty="0"/>
              <a:t>of major highways.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19200"/>
            <a:ext cx="2424112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4149725"/>
            <a:ext cx="7200900" cy="240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2597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>
                <a:solidFill>
                  <a:srgbClr val="C00000"/>
                </a:solidFill>
              </a:rPr>
              <a:t>Pseudographs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lvl="1"/>
            <a:r>
              <a:rPr lang="en-US" sz="2400" dirty="0" err="1"/>
              <a:t>Pseudograph</a:t>
            </a:r>
            <a:r>
              <a:rPr lang="en-US" sz="2400" dirty="0"/>
              <a:t>: Like a multigraph, but edges connecting a node to itself are allowed.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852738"/>
            <a:ext cx="3024188" cy="2697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904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85950" y="3071812"/>
            <a:ext cx="5372100" cy="193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5825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Directed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2880" lvl="1">
              <a:defRPr/>
            </a:pPr>
            <a:r>
              <a:rPr lang="en-US" sz="2400" dirty="0"/>
              <a:t>A directed graph </a:t>
            </a:r>
            <a:r>
              <a:rPr lang="en-US" sz="2400" dirty="0" smtClean="0"/>
              <a:t>(or digraph) (V,E</a:t>
            </a:r>
            <a:r>
              <a:rPr lang="en-US" sz="2400" dirty="0"/>
              <a:t>) consists of a set of vertices V and a set of directed edges E on V. E</a:t>
            </a:r>
            <a:r>
              <a:rPr lang="en-US" sz="2400" dirty="0" smtClean="0"/>
              <a:t>ach directed edge is associated with an ordered pair </a:t>
            </a:r>
            <a:r>
              <a:rPr lang="en-US" sz="2400" dirty="0"/>
              <a:t>of </a:t>
            </a:r>
            <a:r>
              <a:rPr lang="en-US" sz="2400" dirty="0" smtClean="0"/>
              <a:t>vertices. The directed edge associated with the ordered pair </a:t>
            </a:r>
            <a:r>
              <a:rPr lang="en-US" sz="2400" dirty="0"/>
              <a:t>(</a:t>
            </a:r>
            <a:r>
              <a:rPr lang="en-US" sz="2400" b="1" i="1" dirty="0" err="1"/>
              <a:t>u,v</a:t>
            </a:r>
            <a:r>
              <a:rPr lang="en-US" sz="2400" dirty="0" smtClean="0"/>
              <a:t>) is said to start at </a:t>
            </a:r>
            <a:r>
              <a:rPr lang="en-US" sz="2400" b="1" i="1" dirty="0" smtClean="0"/>
              <a:t>u</a:t>
            </a:r>
            <a:r>
              <a:rPr lang="en-US" sz="2400" dirty="0" smtClean="0"/>
              <a:t> and end at </a:t>
            </a:r>
            <a:r>
              <a:rPr lang="en-US" sz="2400" b="1" i="1" dirty="0" smtClean="0"/>
              <a:t>v</a:t>
            </a:r>
            <a:r>
              <a:rPr lang="en-US" sz="2400" dirty="0" smtClean="0"/>
              <a:t>.</a:t>
            </a:r>
            <a:endParaRPr lang="en-US" sz="2400" dirty="0"/>
          </a:p>
          <a:p>
            <a:pPr marL="0" lvl="1" indent="0">
              <a:buNone/>
              <a:defRPr/>
            </a:pPr>
            <a:endParaRPr lang="en-US" sz="2400" dirty="0"/>
          </a:p>
          <a:p>
            <a:pPr marL="182880" lvl="1"/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657600"/>
            <a:ext cx="2590800" cy="250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967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143250"/>
            <a:ext cx="8305800" cy="226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8828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Directed Multigraphs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4013" lvl="1" indent="-342900">
              <a:defRPr/>
            </a:pPr>
            <a:r>
              <a:rPr lang="en-US" sz="2400" dirty="0"/>
              <a:t>A directed multigraph has directed parallel edges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557463"/>
            <a:ext cx="2736850" cy="2547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972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Example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03" y="3124200"/>
            <a:ext cx="8563897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7471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Types of Graphs: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013" lvl="1" indent="-342900">
              <a:defRPr/>
            </a:pPr>
            <a:r>
              <a:rPr lang="en-US" sz="2400" dirty="0"/>
              <a:t>Summary of the book’s definitions.</a:t>
            </a:r>
          </a:p>
          <a:p>
            <a:pPr marL="354013" lvl="1" indent="-342900">
              <a:defRPr/>
            </a:pPr>
            <a:r>
              <a:rPr lang="en-US" sz="2400" dirty="0"/>
              <a:t>Keep in mind this terminology is not fully standardized across different authors...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3644900"/>
            <a:ext cx="8278813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6808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Graph Models: Acquaintanceship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4013" lvl="1" indent="-342900">
              <a:defRPr/>
            </a:pPr>
            <a:r>
              <a:rPr lang="en-US" sz="2400" dirty="0"/>
              <a:t>Represent whether two people know each other, that is, whether they are acquainted. </a:t>
            </a:r>
          </a:p>
          <a:p>
            <a:pPr marL="354013" lvl="1" indent="-342900">
              <a:defRPr/>
            </a:pPr>
            <a:r>
              <a:rPr lang="en-US" sz="2400" dirty="0"/>
              <a:t>Each person in a particular group of people is represented by a vertex. </a:t>
            </a:r>
          </a:p>
          <a:p>
            <a:pPr marL="354013" lvl="1" indent="-342900">
              <a:defRPr/>
            </a:pPr>
            <a:r>
              <a:rPr lang="en-US" sz="2400" dirty="0"/>
              <a:t>Undirected edge is used to connect two people when these people know each other.</a:t>
            </a:r>
          </a:p>
          <a:p>
            <a:pPr marL="354013" lvl="1" indent="-342900">
              <a:defRPr/>
            </a:pPr>
            <a:r>
              <a:rPr lang="en-US" sz="2400" dirty="0"/>
              <a:t>No multiple edges are used.</a:t>
            </a:r>
          </a:p>
          <a:p>
            <a:pPr marL="354013" lvl="1" indent="-342900">
              <a:defRPr/>
            </a:pPr>
            <a:r>
              <a:rPr lang="en-US" sz="2400" dirty="0"/>
              <a:t>Usually no loops are used. (If we want to include the notion of self-knowledge, we would include loops.)</a:t>
            </a:r>
          </a:p>
        </p:txBody>
      </p:sp>
    </p:spTree>
    <p:extLst>
      <p:ext uri="{BB962C8B-B14F-4D97-AF65-F5344CB8AC3E}">
        <p14:creationId xmlns:p14="http://schemas.microsoft.com/office/powerpoint/2010/main" val="946112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04975"/>
            <a:ext cx="8305800" cy="469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8617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An Influence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013" lvl="1" indent="-342900">
              <a:defRPr/>
            </a:pPr>
            <a:r>
              <a:rPr lang="en-US" sz="2400" dirty="0"/>
              <a:t>A </a:t>
            </a:r>
            <a:r>
              <a:rPr lang="en-US" sz="2400" dirty="0" smtClean="0"/>
              <a:t>directed </a:t>
            </a:r>
            <a:r>
              <a:rPr lang="en-US" sz="2400" dirty="0"/>
              <a:t>edge (a, b) means a can influence b.</a:t>
            </a:r>
          </a:p>
          <a:p>
            <a:pPr marL="354013" lvl="1" indent="-342900">
              <a:defRPr/>
            </a:pPr>
            <a:r>
              <a:rPr lang="en-US" sz="2400" dirty="0"/>
              <a:t>E.g. </a:t>
            </a:r>
            <a:r>
              <a:rPr lang="en-US" sz="2400" dirty="0" smtClean="0"/>
              <a:t>(Fred, Brian) </a:t>
            </a:r>
            <a:r>
              <a:rPr lang="en-US" sz="2400" dirty="0"/>
              <a:t>means </a:t>
            </a:r>
            <a:r>
              <a:rPr lang="en-US" sz="2400" dirty="0" smtClean="0"/>
              <a:t>Fred </a:t>
            </a:r>
            <a:r>
              <a:rPr lang="en-US" sz="2400" dirty="0"/>
              <a:t>can influence B</a:t>
            </a:r>
            <a:r>
              <a:rPr lang="en-US" sz="2400" dirty="0" smtClean="0"/>
              <a:t>rian.</a:t>
            </a:r>
            <a:endParaRPr lang="en-US" sz="2400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3141663"/>
            <a:ext cx="5608638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5532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 an influence graph for the board members of </a:t>
            </a:r>
            <a:r>
              <a:rPr lang="en-US" dirty="0" smtClean="0"/>
              <a:t>a company </a:t>
            </a:r>
            <a:r>
              <a:rPr lang="en-US" dirty="0"/>
              <a:t>if the </a:t>
            </a:r>
            <a:r>
              <a:rPr lang="en-US" dirty="0" smtClean="0">
                <a:solidFill>
                  <a:srgbClr val="C00000"/>
                </a:solidFill>
              </a:rPr>
              <a:t>President </a:t>
            </a:r>
            <a:r>
              <a:rPr lang="en-US" dirty="0" smtClean="0"/>
              <a:t>can </a:t>
            </a:r>
            <a:r>
              <a:rPr lang="en-US" dirty="0"/>
              <a:t>influence the </a:t>
            </a:r>
            <a:r>
              <a:rPr lang="en-US" dirty="0" smtClean="0">
                <a:solidFill>
                  <a:srgbClr val="C00000"/>
                </a:solidFill>
              </a:rPr>
              <a:t>Director of Research and Development, </a:t>
            </a:r>
            <a:r>
              <a:rPr lang="en-US" dirty="0" smtClean="0"/>
              <a:t>the</a:t>
            </a:r>
            <a:r>
              <a:rPr lang="en-US" dirty="0" smtClean="0">
                <a:solidFill>
                  <a:srgbClr val="C00000"/>
                </a:solidFill>
              </a:rPr>
              <a:t> Director of Marketing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/>
              <a:t>the</a:t>
            </a:r>
            <a:r>
              <a:rPr lang="en-US" dirty="0">
                <a:solidFill>
                  <a:srgbClr val="C00000"/>
                </a:solidFill>
              </a:rPr>
              <a:t> Director </a:t>
            </a:r>
            <a:r>
              <a:rPr lang="en-US" dirty="0" smtClean="0">
                <a:solidFill>
                  <a:srgbClr val="C00000"/>
                </a:solidFill>
              </a:rPr>
              <a:t>of Operations</a:t>
            </a:r>
            <a:r>
              <a:rPr lang="en-US" dirty="0" smtClean="0"/>
              <a:t>; the </a:t>
            </a:r>
            <a:r>
              <a:rPr lang="en-US" dirty="0">
                <a:solidFill>
                  <a:srgbClr val="C00000"/>
                </a:solidFill>
              </a:rPr>
              <a:t>Director of Research and Development </a:t>
            </a:r>
            <a:r>
              <a:rPr lang="en-US" dirty="0" smtClean="0"/>
              <a:t>can </a:t>
            </a:r>
            <a:r>
              <a:rPr lang="en-US" dirty="0"/>
              <a:t>influence the </a:t>
            </a:r>
            <a:r>
              <a:rPr lang="en-US" dirty="0">
                <a:solidFill>
                  <a:srgbClr val="C00000"/>
                </a:solidFill>
              </a:rPr>
              <a:t>Director of Operations</a:t>
            </a:r>
            <a:r>
              <a:rPr lang="en-US" dirty="0" smtClean="0"/>
              <a:t>; the </a:t>
            </a:r>
            <a:r>
              <a:rPr lang="en-US" dirty="0">
                <a:solidFill>
                  <a:srgbClr val="C00000"/>
                </a:solidFill>
              </a:rPr>
              <a:t>Director of Marketing </a:t>
            </a:r>
            <a:r>
              <a:rPr lang="en-US" dirty="0" smtClean="0"/>
              <a:t>can </a:t>
            </a:r>
            <a:r>
              <a:rPr lang="en-US" dirty="0"/>
              <a:t>influence the </a:t>
            </a:r>
            <a:r>
              <a:rPr lang="en-US" dirty="0">
                <a:solidFill>
                  <a:srgbClr val="C00000"/>
                </a:solidFill>
              </a:rPr>
              <a:t>Director of </a:t>
            </a:r>
            <a:r>
              <a:rPr lang="en-US" dirty="0" smtClean="0">
                <a:solidFill>
                  <a:srgbClr val="C00000"/>
                </a:solidFill>
              </a:rPr>
              <a:t>Operations</a:t>
            </a:r>
            <a:r>
              <a:rPr lang="en-US" dirty="0" smtClean="0"/>
              <a:t>; </a:t>
            </a:r>
            <a:r>
              <a:rPr lang="en-US" dirty="0"/>
              <a:t>and </a:t>
            </a:r>
            <a:r>
              <a:rPr lang="en-US" dirty="0" smtClean="0"/>
              <a:t>no one can influence, or be influenced by, the</a:t>
            </a:r>
            <a:r>
              <a:rPr lang="en-US" dirty="0" smtClean="0">
                <a:solidFill>
                  <a:srgbClr val="C00000"/>
                </a:solidFill>
              </a:rPr>
              <a:t> Chief Financial Officer.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818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Round Robin Tournaments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013" lvl="1" indent="-342900">
              <a:defRPr/>
            </a:pPr>
            <a:r>
              <a:rPr lang="en-US" sz="2400" dirty="0"/>
              <a:t>A tournament where each team plays each other team exactly once.</a:t>
            </a:r>
          </a:p>
          <a:p>
            <a:pPr marL="354013" lvl="1" indent="-342900">
              <a:defRPr/>
            </a:pPr>
            <a:r>
              <a:rPr lang="en-US" sz="2400" dirty="0"/>
              <a:t>Such tournaments can be modeled using directed graphs where each team is represented by a vertex. Note that (a, b) is an edge if team ‘a’ beats team ‘b’. This graph is a simple directed graph, containing no loops or multiple directed edges.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593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611868"/>
            <a:ext cx="90206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sz="2400" dirty="0"/>
              <a:t>Team 1 is undefeated in this tournament, and Team 3 is winless. </a:t>
            </a:r>
          </a:p>
          <a:p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133600"/>
            <a:ext cx="4752975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4201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Intersection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54013" lvl="1" indent="-342900">
                  <a:defRPr/>
                </a:pPr>
                <a:r>
                  <a:rPr lang="en-US" sz="2400" dirty="0"/>
                  <a:t>The intersection graph of a collections of 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240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 is the graph that has a vertex for each of these sets and has an edge connecting the vertices representing two sets if these sets have a non empty intersection.</a:t>
                </a:r>
              </a:p>
              <a:p>
                <a:pPr marL="354013" lvl="1" indent="-342900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>
                        <a:latin typeface="Cambria Math"/>
                      </a:rPr>
                      <m:t>={0, 2, 4, 6, 8}</m:t>
                    </m:r>
                  </m:oMath>
                </a14:m>
                <a:endParaRPr lang="en-US" sz="2400" dirty="0"/>
              </a:p>
              <a:p>
                <a:pPr marL="354013" lvl="1" indent="-342900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>
                        <a:latin typeface="Cambria Math"/>
                      </a:rPr>
                      <m:t>={0, 1, 2, 3, 4}</m:t>
                    </m:r>
                  </m:oMath>
                </a14:m>
                <a:endParaRPr lang="en-US" sz="2400" dirty="0"/>
              </a:p>
              <a:p>
                <a:pPr marL="354013" lvl="1" indent="-342900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2400">
                        <a:latin typeface="Cambria Math"/>
                      </a:rPr>
                      <m:t>={1, 3, 5, 7, 9}</m:t>
                    </m:r>
                  </m:oMath>
                </a14:m>
                <a:endParaRPr lang="en-US" sz="2400" dirty="0"/>
              </a:p>
              <a:p>
                <a:pPr marL="354013" lvl="1" indent="-342900">
                  <a:defRPr/>
                </a:pPr>
                <a:endParaRPr lang="en-US" sz="2400" dirty="0"/>
              </a:p>
              <a:p>
                <a:pPr marL="354013" lvl="1" indent="-342900">
                  <a:defRPr/>
                </a:pPr>
                <a:endParaRPr lang="en-US" sz="2400" dirty="0"/>
              </a:p>
              <a:p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444" t="-875" r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4197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Graph Terminologies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4013" lvl="1" indent="-342900">
              <a:defRPr/>
            </a:pPr>
            <a:r>
              <a:rPr lang="en-US" sz="2400" dirty="0" smtClean="0">
                <a:solidFill>
                  <a:schemeClr val="tx2"/>
                </a:solidFill>
              </a:rPr>
              <a:t>Adjacent:</a:t>
            </a:r>
            <a:endParaRPr lang="en-US" sz="2400" dirty="0">
              <a:solidFill>
                <a:schemeClr val="tx2"/>
              </a:solidFill>
            </a:endParaRPr>
          </a:p>
          <a:p>
            <a:pPr marL="285433" lvl="2" indent="0">
              <a:buNone/>
              <a:defRPr/>
            </a:pPr>
            <a:r>
              <a:rPr lang="en-US" sz="2200" dirty="0" smtClean="0"/>
              <a:t>Let </a:t>
            </a:r>
            <a:r>
              <a:rPr lang="en-US" sz="2200" dirty="0"/>
              <a:t>G be an undirected graph with edge set E. Let e ∈ E be (or map to) the pair {</a:t>
            </a:r>
            <a:r>
              <a:rPr lang="en-US" sz="2200" dirty="0" err="1"/>
              <a:t>u,v</a:t>
            </a:r>
            <a:r>
              <a:rPr lang="en-US" sz="2200" dirty="0" smtClean="0"/>
              <a:t>}. </a:t>
            </a:r>
            <a:r>
              <a:rPr lang="en-US" sz="2400" dirty="0" smtClean="0"/>
              <a:t>Then </a:t>
            </a:r>
            <a:r>
              <a:rPr lang="en-US" sz="2400" dirty="0"/>
              <a:t>we </a:t>
            </a:r>
            <a:r>
              <a:rPr lang="en-US" sz="2400" dirty="0" smtClean="0"/>
              <a:t>say:</a:t>
            </a:r>
          </a:p>
          <a:p>
            <a:pPr marL="285433" lvl="2" indent="0">
              <a:buNone/>
              <a:defRPr/>
            </a:pPr>
            <a:r>
              <a:rPr lang="en-US" sz="2400" dirty="0" smtClean="0"/>
              <a:t>u</a:t>
            </a:r>
            <a:r>
              <a:rPr lang="en-US" sz="2400" dirty="0"/>
              <a:t>, v are adjacent / neighbors / connected.</a:t>
            </a:r>
          </a:p>
          <a:p>
            <a:pPr marL="354013" lvl="1" indent="-342900">
              <a:defRPr/>
            </a:pPr>
            <a:r>
              <a:rPr lang="en-US" sz="2400" dirty="0"/>
              <a:t>Edge e is incident with vertices u and v.</a:t>
            </a:r>
          </a:p>
          <a:p>
            <a:pPr marL="354013" lvl="1" indent="-342900">
              <a:defRPr/>
            </a:pPr>
            <a:r>
              <a:rPr lang="en-US" sz="2400" dirty="0"/>
              <a:t>Edge e connects u and v.</a:t>
            </a:r>
          </a:p>
          <a:p>
            <a:pPr marL="354013" lvl="1" indent="-342900">
              <a:defRPr/>
            </a:pPr>
            <a:r>
              <a:rPr lang="en-US" sz="2400" dirty="0"/>
              <a:t>Vertices u and v are endpoints of edge 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383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Degree of a Vertex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013" lvl="1" indent="-342900">
              <a:defRPr/>
            </a:pPr>
            <a:r>
              <a:rPr lang="en-US" sz="2400" dirty="0"/>
              <a:t>Let G be an undirected graph, v ∈ V a vertex.</a:t>
            </a:r>
          </a:p>
          <a:p>
            <a:pPr marL="354013" lvl="1" indent="-342900">
              <a:defRPr/>
            </a:pPr>
            <a:r>
              <a:rPr lang="en-US" sz="2400" dirty="0"/>
              <a:t>The degree of v, </a:t>
            </a:r>
            <a:r>
              <a:rPr lang="en-US" sz="2400" dirty="0" err="1"/>
              <a:t>deg</a:t>
            </a:r>
            <a:r>
              <a:rPr lang="en-US" sz="2400" dirty="0"/>
              <a:t>(v), is its number of incident edges. (Except that any self-loops are counted twice.)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788" y="4005263"/>
            <a:ext cx="2936875" cy="242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4859338" y="3573463"/>
            <a:ext cx="41402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dirty="0" err="1"/>
              <a:t>deg</a:t>
            </a:r>
            <a:r>
              <a:rPr lang="en-US" dirty="0"/>
              <a:t>(a) = 3</a:t>
            </a:r>
          </a:p>
          <a:p>
            <a:r>
              <a:rPr lang="en-US" dirty="0" err="1"/>
              <a:t>deg</a:t>
            </a:r>
            <a:r>
              <a:rPr lang="en-US" dirty="0"/>
              <a:t>(b) = 5</a:t>
            </a:r>
          </a:p>
          <a:p>
            <a:r>
              <a:rPr lang="en-US" dirty="0" err="1"/>
              <a:t>deg</a:t>
            </a:r>
            <a:r>
              <a:rPr lang="en-US" dirty="0"/>
              <a:t>(c) = 5</a:t>
            </a:r>
          </a:p>
          <a:p>
            <a:r>
              <a:rPr lang="en-US" dirty="0" err="1"/>
              <a:t>deg</a:t>
            </a:r>
            <a:r>
              <a:rPr lang="en-US" dirty="0"/>
              <a:t>(d) = 5</a:t>
            </a:r>
          </a:p>
          <a:p>
            <a:r>
              <a:rPr lang="en-US" dirty="0" err="1"/>
              <a:t>deg</a:t>
            </a:r>
            <a:r>
              <a:rPr lang="en-US" dirty="0"/>
              <a:t>(e) = 0 (isolated vertex)</a:t>
            </a:r>
          </a:p>
          <a:p>
            <a:endParaRPr lang="en-US" dirty="0"/>
          </a:p>
          <a:p>
            <a:r>
              <a:rPr lang="en-US" dirty="0" smtClean="0"/>
              <a:t>Pendant </a:t>
            </a:r>
            <a:r>
              <a:rPr lang="en-US" dirty="0"/>
              <a:t>vertex = with </a:t>
            </a:r>
            <a:r>
              <a:rPr lang="en-US" dirty="0" err="1"/>
              <a:t>deg</a:t>
            </a:r>
            <a:r>
              <a:rPr lang="en-US" dirty="0"/>
              <a:t> . 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243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</a:t>
            </a:r>
            <a:r>
              <a:rPr lang="en-US" dirty="0"/>
              <a:t>are the degrees </a:t>
            </a:r>
            <a:r>
              <a:rPr lang="en-US" dirty="0" smtClean="0"/>
              <a:t>of vertices of following graph?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How many edges are there in a graph with 10 vertices each of degree six?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209800"/>
            <a:ext cx="5181600" cy="277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437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Handshaking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013" lvl="1" indent="-342900">
              <a:defRPr/>
            </a:pPr>
            <a:r>
              <a:rPr lang="en-US" sz="2400" dirty="0"/>
              <a:t>Let G be an undirected (simple, multi-, or pseudo-) graph with vertex set V and edge set E. Then  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339725" indent="-339725"/>
            <a:r>
              <a:rPr lang="en-US" dirty="0" err="1"/>
              <a:t>deg</a:t>
            </a:r>
            <a:r>
              <a:rPr lang="en-US" dirty="0"/>
              <a:t>(a)=3, </a:t>
            </a:r>
            <a:r>
              <a:rPr lang="en-US" dirty="0" err="1"/>
              <a:t>deg</a:t>
            </a:r>
            <a:r>
              <a:rPr lang="en-US" dirty="0"/>
              <a:t>(b)=5, </a:t>
            </a:r>
            <a:r>
              <a:rPr lang="en-US" dirty="0" err="1"/>
              <a:t>deg</a:t>
            </a:r>
            <a:r>
              <a:rPr lang="en-US" dirty="0"/>
              <a:t>(c)=5, </a:t>
            </a:r>
            <a:r>
              <a:rPr lang="en-US" dirty="0" err="1" smtClean="0"/>
              <a:t>deg</a:t>
            </a:r>
            <a:r>
              <a:rPr lang="en-US" dirty="0" smtClean="0"/>
              <a:t>(d</a:t>
            </a:r>
            <a:r>
              <a:rPr lang="en-US" dirty="0"/>
              <a:t>)=5, </a:t>
            </a:r>
            <a:r>
              <a:rPr lang="en-US" dirty="0" err="1"/>
              <a:t>deg</a:t>
            </a:r>
            <a:r>
              <a:rPr lang="en-US" dirty="0"/>
              <a:t>(e)=0</a:t>
            </a:r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268538" y="2708275"/>
          <a:ext cx="2735262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" name="Equation" r:id="rId3" imgW="1002865" imgH="444307" progId="Equation.DSMT4">
                  <p:embed/>
                </p:oleObj>
              </mc:Choice>
              <mc:Fallback>
                <p:oleObj name="Equation" r:id="rId3" imgW="1002865" imgH="444307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708275"/>
                        <a:ext cx="2735262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30213" y="5013325"/>
          <a:ext cx="85344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6" name="Equation" r:id="rId5" imgW="4254500" imgH="457200" progId="Equation.3">
                  <p:embed/>
                </p:oleObj>
              </mc:Choice>
              <mc:Fallback>
                <p:oleObj name="Equation" r:id="rId5" imgW="42545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213" y="5013325"/>
                        <a:ext cx="85344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89294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Handshaking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54013" lvl="1" indent="-342900">
                  <a:defRPr/>
                </a:pPr>
                <a:r>
                  <a:rPr lang="en-US" sz="2400" dirty="0" smtClean="0"/>
                  <a:t>Any undirected graph has an even number of vertices of odd degree.</a:t>
                </a:r>
                <a:endParaRPr lang="en-US" sz="2400" dirty="0">
                  <a:solidFill>
                    <a:schemeClr val="tx2"/>
                  </a:solidFill>
                </a:endParaRPr>
              </a:p>
              <a:p>
                <a:pPr marL="354013" lvl="1" indent="-342900">
                  <a:defRPr/>
                </a:pPr>
                <a:endParaRPr lang="en-US" sz="2400" dirty="0" smtClean="0"/>
              </a:p>
              <a:p>
                <a:pPr marL="354013" lvl="1" indent="-342900">
                  <a:defRPr/>
                </a:pPr>
                <a:r>
                  <a:rPr lang="en-US" sz="2400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2400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2400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be the set of vertices of even and odd degrees respectively, in an undirected graph, then</a:t>
                </a:r>
              </a:p>
              <a:p>
                <a:pPr marL="354013" lvl="1" indent="-342900">
                  <a:defRPr/>
                </a:pPr>
                <a:endParaRPr lang="en-US" sz="2400" dirty="0"/>
              </a:p>
              <a:p>
                <a:pPr marL="354013" lvl="1" indent="-342900">
                  <a:defRPr/>
                </a:pPr>
                <a:endParaRPr lang="en-US" sz="2400" dirty="0" smtClean="0"/>
              </a:p>
              <a:p>
                <a:pPr marL="11113" lvl="1" indent="0">
                  <a:buNone/>
                  <a:defRPr/>
                </a:pPr>
                <a:endParaRPr lang="en-US" sz="2400" dirty="0"/>
              </a:p>
              <a:p>
                <a:pPr marL="354013" lvl="1" indent="-342900">
                  <a:defRPr/>
                </a:pPr>
                <a:r>
                  <a:rPr lang="en-US" sz="2400" dirty="0"/>
                  <a:t>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2400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| has to be even.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963" t="-875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1386886"/>
              </p:ext>
            </p:extLst>
          </p:nvPr>
        </p:nvGraphicFramePr>
        <p:xfrm>
          <a:off x="1035050" y="3810000"/>
          <a:ext cx="6508750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" name="Equation" r:id="rId4" imgW="2387520" imgH="457200" progId="Equation.DSMT4">
                  <p:embed/>
                </p:oleObj>
              </mc:Choice>
              <mc:Fallback>
                <p:oleObj name="Equation" r:id="rId4" imgW="2387520" imgH="457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5050" y="3810000"/>
                        <a:ext cx="6508750" cy="1112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6005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Directed Degree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54013" lvl="1" indent="-342900">
                  <a:defRPr/>
                </a:pPr>
                <a:r>
                  <a:rPr lang="en-US" sz="2400" dirty="0" smtClean="0"/>
                  <a:t>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(</m:t>
                    </m:r>
                    <m:r>
                      <a:rPr lang="en-US" sz="2400" b="0" i="1" smtClean="0">
                        <a:latin typeface="Cambria Math"/>
                      </a:rPr>
                      <m:t>𝑢</m:t>
                    </m:r>
                    <m:r>
                      <a:rPr lang="en-US" sz="2400" b="0" i="1" smtClean="0">
                        <a:latin typeface="Cambria Math"/>
                      </a:rPr>
                      <m:t>,</m:t>
                    </m:r>
                    <m:r>
                      <a:rPr lang="en-US" sz="2400" b="0" i="1" smtClean="0">
                        <a:latin typeface="Cambria Math"/>
                      </a:rPr>
                      <m:t>𝑣</m:t>
                    </m:r>
                    <m:r>
                      <a:rPr lang="en-US" sz="24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400" i="1" dirty="0" smtClean="0"/>
                  <a:t> </a:t>
                </a:r>
                <a:r>
                  <a:rPr lang="en-US" sz="2400" dirty="0" smtClean="0"/>
                  <a:t>is an edge of the graph G with directed edges,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en-US" sz="2400" dirty="0" smtClean="0"/>
                  <a:t> is said to be adjacent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en-US" sz="2400" dirty="0" smtClean="0"/>
                  <a:t>. The vertex</a:t>
                </a:r>
                <a:r>
                  <a:rPr lang="en-US" sz="2400" dirty="0"/>
                  <a:t> 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𝑢</m:t>
                    </m:r>
                  </m:oMath>
                </a14:m>
                <a:r>
                  <a:rPr lang="en-US" sz="2400" dirty="0" smtClean="0"/>
                  <a:t> is called the initial vertex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/>
                          </a:rPr>
                          <m:t>𝑢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,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 smtClean="0"/>
                  <a:t>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𝑣</m:t>
                    </m:r>
                  </m:oMath>
                </a14:m>
                <a:r>
                  <a:rPr lang="en-US" sz="2400" dirty="0" smtClean="0"/>
                  <a:t> is called the terminal or end vertex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/>
                          </a:rPr>
                          <m:t>𝑢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,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en-US" sz="2400" b="0" i="1" dirty="0" smtClean="0">
                        <a:latin typeface="Cambria Math"/>
                      </a:rPr>
                      <m:t>.</m:t>
                    </m:r>
                  </m:oMath>
                </a14:m>
                <a:r>
                  <a:rPr lang="en-US" sz="2400" dirty="0" smtClean="0"/>
                  <a:t> </a:t>
                </a:r>
              </a:p>
              <a:p>
                <a:pPr marL="354013" lvl="1" indent="-342900">
                  <a:defRPr/>
                </a:pPr>
                <a:r>
                  <a:rPr lang="en-US" sz="2400" dirty="0" smtClean="0"/>
                  <a:t>The initial vertex and terminal vertex of a loop are the same.</a:t>
                </a:r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444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469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Directed Degree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54013" lvl="1" indent="-342900">
                  <a:defRPr/>
                </a:pPr>
                <a:r>
                  <a:rPr lang="en-US" sz="2400" dirty="0" smtClean="0"/>
                  <a:t>Let G be a directed graph, v a vertex of G.</a:t>
                </a:r>
              </a:p>
              <a:p>
                <a:pPr marL="354013" lvl="1" indent="-342900">
                  <a:defRPr/>
                </a:pPr>
                <a:r>
                  <a:rPr lang="en-US" sz="2400" dirty="0"/>
                  <a:t>The in-degree of v,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−</m:t>
                        </m:r>
                      </m:sup>
                    </m:sSup>
                    <m:r>
                      <a:rPr lang="en-US" sz="2400" b="0" i="1" dirty="0" smtClean="0">
                        <a:latin typeface="Cambria Math"/>
                      </a:rPr>
                      <m:t>(</m:t>
                    </m:r>
                    <m:r>
                      <a:rPr lang="en-US" sz="2400" b="0" i="1" dirty="0" smtClean="0">
                        <a:latin typeface="Cambria Math"/>
                      </a:rPr>
                      <m:t>𝑣</m:t>
                    </m:r>
                    <m:r>
                      <a:rPr lang="en-US" sz="2400" b="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/>
                  <a:t>, is the number of edges </a:t>
                </a:r>
                <a:r>
                  <a:rPr lang="en-US" sz="2400" dirty="0" smtClean="0"/>
                  <a:t>with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en-US" sz="2400" dirty="0" smtClean="0"/>
                  <a:t> as their terminal vertex.</a:t>
                </a:r>
                <a:endParaRPr lang="en-US" sz="2400" dirty="0"/>
              </a:p>
              <a:p>
                <a:pPr marL="354013" lvl="1" indent="-342900">
                  <a:defRPr/>
                </a:pPr>
                <a:r>
                  <a:rPr lang="en-US" sz="2400" dirty="0"/>
                  <a:t>The out-degree of v,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+</m:t>
                        </m:r>
                      </m:sup>
                    </m:sSup>
                    <m:r>
                      <a:rPr lang="en-US" sz="2400" i="1" dirty="0">
                        <a:latin typeface="Cambria Math"/>
                      </a:rPr>
                      <m:t>(</m:t>
                    </m:r>
                    <m:r>
                      <a:rPr lang="en-US" sz="2400" i="1" dirty="0">
                        <a:latin typeface="Cambria Math"/>
                      </a:rPr>
                      <m:t>𝑣</m:t>
                    </m:r>
                    <m:r>
                      <a:rPr lang="en-US" sz="24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/>
                  <a:t>, is the number of edges with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𝑣</m:t>
                    </m:r>
                  </m:oMath>
                </a14:m>
                <a:r>
                  <a:rPr lang="en-US" sz="2400" dirty="0"/>
                  <a:t> as their </a:t>
                </a:r>
                <a:r>
                  <a:rPr lang="en-US" sz="2400" dirty="0" smtClean="0"/>
                  <a:t>initial </a:t>
                </a:r>
                <a:r>
                  <a:rPr lang="en-US" sz="2400" dirty="0"/>
                  <a:t>vertex. </a:t>
                </a:r>
              </a:p>
              <a:p>
                <a:pPr marL="354013" lvl="1" indent="-342900">
                  <a:defRPr/>
                </a:pPr>
                <a:r>
                  <a:rPr lang="en-US" sz="2400" dirty="0"/>
                  <a:t>The degree of v,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latin typeface="Cambria Math"/>
                      </a:rPr>
                      <m:t>deg</m:t>
                    </m:r>
                    <m:r>
                      <a:rPr lang="en-US" sz="2400" i="1" dirty="0" smtClean="0">
                        <a:latin typeface="Cambria Math"/>
                      </a:rPr>
                      <m:t>⁡(</m:t>
                    </m:r>
                    <m:r>
                      <a:rPr lang="en-US" sz="2400" i="1" dirty="0">
                        <a:latin typeface="Cambria Math"/>
                      </a:rPr>
                      <m:t>𝑣</m:t>
                    </m:r>
                    <m:r>
                      <a:rPr lang="en-US" sz="2400" i="1" dirty="0">
                        <a:latin typeface="Cambria Math"/>
                      </a:rPr>
                      <m:t>):≡ 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i="1" dirty="0">
                            <a:latin typeface="Cambria Math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en-US" sz="2400" b="0" i="0" dirty="0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+</m:t>
                        </m:r>
                      </m:sup>
                    </m:sSup>
                    <m:r>
                      <a:rPr lang="en-US" sz="2400" i="1" dirty="0">
                        <a:latin typeface="Cambria Math"/>
                      </a:rPr>
                      <m:t>(</m:t>
                    </m:r>
                    <m:r>
                      <a:rPr lang="en-US" sz="2400" i="1" dirty="0">
                        <a:latin typeface="Cambria Math"/>
                      </a:rPr>
                      <m:t>𝑣</m:t>
                    </m:r>
                    <m:r>
                      <a:rPr lang="en-US" sz="24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/>
                  <a:t>is the sum of v’s in-degree and out-degree</a:t>
                </a:r>
                <a:r>
                  <a:rPr lang="en-US" sz="2400" dirty="0" smtClean="0"/>
                  <a:t>.</a:t>
                </a:r>
                <a:endParaRPr lang="en-US" dirty="0"/>
              </a:p>
              <a:p>
                <a:pPr marL="354013" lvl="1" indent="-342900">
                  <a:defRPr/>
                </a:pPr>
                <a:r>
                  <a:rPr lang="en-US" sz="2400" dirty="0" smtClean="0"/>
                  <a:t>Loop at a vertex contributes 1 to both the in-degree and the out-degree of this vertex.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444" t="-875"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862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54013" lvl="1" indent="-342900">
                  <a:defRPr/>
                </a:pPr>
                <a:r>
                  <a:rPr lang="en-US" sz="2400" dirty="0"/>
                  <a:t>Determine in/out-degree of each node</a:t>
                </a:r>
              </a:p>
              <a:p>
                <a:pPr marL="354013" lvl="1" indent="-342900"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𝑎</m:t>
                        </m:r>
                      </m:e>
                    </m:d>
                    <m:r>
                      <a:rPr lang="en-US" sz="2400" b="0" i="1" dirty="0" smtClean="0">
                        <a:latin typeface="Cambria Math"/>
                      </a:rPr>
                      <m:t>=4</m:t>
                    </m:r>
                  </m:oMath>
                </a14:m>
                <a:r>
                  <a:rPr lang="en-US" sz="2400" dirty="0" smtClean="0"/>
                  <a:t>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 smtClean="0">
                            <a:latin typeface="Cambria Math"/>
                          </a:rPr>
                          <m:t>𝑑</m:t>
                        </m:r>
                        <m:r>
                          <a:rPr lang="en-US" sz="2400" i="1" dirty="0">
                            <a:latin typeface="Cambria Math"/>
                          </a:rPr>
                          <m:t>𝑒𝑔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/>
                          </a:rPr>
                          <m:t>𝑎</m:t>
                        </m:r>
                      </m:e>
                    </m:d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2</m:t>
                    </m:r>
                  </m:oMath>
                </a14:m>
                <a:r>
                  <a:rPr lang="en-US" sz="2400" dirty="0"/>
                  <a:t> </a:t>
                </a:r>
                <a:endParaRPr lang="en-US" sz="2400" dirty="0" smtClean="0"/>
              </a:p>
              <a:p>
                <a:pPr marL="354013" lvl="1" indent="-342900"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i="1" dirty="0">
                            <a:latin typeface="Cambria Math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𝑏</m:t>
                        </m:r>
                      </m:e>
                    </m:d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1</m:t>
                    </m:r>
                    <m:r>
                      <a:rPr lang="en-US" sz="2400" b="0" i="0" dirty="0" smtClean="0">
                        <a:latin typeface="Cambria Math"/>
                      </a:rPr>
                      <m:t>     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/>
                          </a:rPr>
                          <m:t>𝑏</m:t>
                        </m:r>
                      </m:e>
                    </m:d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2</m:t>
                    </m:r>
                  </m:oMath>
                </a14:m>
                <a:endParaRPr lang="en-US" sz="2400" dirty="0" smtClean="0"/>
              </a:p>
              <a:p>
                <a:pPr marL="354013" lvl="1" indent="-342900"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i="1" dirty="0">
                            <a:latin typeface="Cambria Math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𝑐</m:t>
                        </m:r>
                      </m:e>
                    </m:d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2</m:t>
                    </m:r>
                  </m:oMath>
                </a14:m>
                <a:r>
                  <a:rPr lang="en-US" sz="2400" dirty="0"/>
                  <a:t>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i="1" dirty="0">
                            <a:latin typeface="Cambria Math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𝑐</m:t>
                        </m:r>
                      </m:e>
                    </m:d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3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354013" lvl="1" indent="-342900"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i="1" dirty="0">
                            <a:latin typeface="Cambria Math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𝑑</m:t>
                        </m:r>
                      </m:e>
                    </m:d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2</m:t>
                    </m:r>
                    <m:r>
                      <a:rPr lang="en-US" sz="2400" dirty="0">
                        <a:latin typeface="Cambria Math"/>
                      </a:rPr>
                      <m:t>    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i="1" dirty="0">
                            <a:latin typeface="Cambria Math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𝑑</m:t>
                        </m:r>
                      </m:e>
                    </m:d>
                    <m:r>
                      <a:rPr lang="en-US" sz="2400" i="1" dirty="0">
                        <a:latin typeface="Cambria Math"/>
                      </a:rPr>
                      <m:t>=2</m:t>
                    </m:r>
                  </m:oMath>
                </a14:m>
                <a:endParaRPr lang="en-US" sz="2400" dirty="0"/>
              </a:p>
              <a:p>
                <a:pPr marL="354013" lvl="1" indent="-342900"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i="1" dirty="0">
                            <a:latin typeface="Cambria Math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𝑒</m:t>
                        </m:r>
                      </m:e>
                    </m:d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3</m:t>
                    </m:r>
                  </m:oMath>
                </a14:m>
                <a:r>
                  <a:rPr lang="en-US" sz="2400" dirty="0"/>
                  <a:t>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i="1" dirty="0">
                            <a:latin typeface="Cambria Math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𝑒</m:t>
                        </m:r>
                      </m:e>
                    </m:d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3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354013" lvl="1" indent="-342900"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i="1" dirty="0">
                            <a:latin typeface="Cambria Math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𝑓</m:t>
                        </m:r>
                      </m:e>
                    </m:d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0</m:t>
                    </m:r>
                    <m:r>
                      <a:rPr lang="en-US" sz="2400" b="0" i="0" dirty="0" smtClean="0">
                        <a:latin typeface="Cambria Math"/>
                      </a:rPr>
                      <m:t> </m:t>
                    </m:r>
                    <m:r>
                      <a:rPr lang="en-US" sz="2400" dirty="0">
                        <a:latin typeface="Cambria Math"/>
                      </a:rPr>
                      <m:t>    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i="1" dirty="0">
                            <a:latin typeface="Cambria Math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𝑓</m:t>
                        </m:r>
                      </m:e>
                    </m:d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0</m:t>
                    </m:r>
                  </m:oMath>
                </a14:m>
                <a:endParaRPr lang="en-US" sz="2400" dirty="0"/>
              </a:p>
              <a:p>
                <a:pPr marL="354013" lvl="1" indent="-342900">
                  <a:defRPr/>
                </a:pPr>
                <a:endParaRPr lang="en-US" sz="2400" dirty="0"/>
              </a:p>
              <a:p>
                <a:pPr marL="354013" lvl="1" indent="-342900">
                  <a:defRPr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444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563937"/>
            <a:ext cx="4424363" cy="298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0040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 smtClean="0"/>
              </a:p>
              <a:p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G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𝐸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i="1" dirty="0" smtClean="0"/>
                  <a:t> </a:t>
                </a:r>
                <a:r>
                  <a:rPr lang="en-US" dirty="0" smtClean="0"/>
                  <a:t>be a graph with directed edges then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111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071848"/>
              </p:ext>
            </p:extLst>
          </p:nvPr>
        </p:nvGraphicFramePr>
        <p:xfrm>
          <a:off x="1795463" y="3048000"/>
          <a:ext cx="4986337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2" name="Equation" r:id="rId4" imgW="1828800" imgH="457200" progId="Equation.DSMT4">
                  <p:embed/>
                </p:oleObj>
              </mc:Choice>
              <mc:Fallback>
                <p:oleObj name="Equation" r:id="rId4" imgW="1828800" imgH="457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463" y="3048000"/>
                        <a:ext cx="4986337" cy="1112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1091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Chapter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Chapter # 10</a:t>
            </a:r>
          </a:p>
          <a:p>
            <a:r>
              <a:rPr lang="en-US" dirty="0" smtClean="0"/>
              <a:t>Topic # 10.1</a:t>
            </a:r>
          </a:p>
          <a:p>
            <a:r>
              <a:rPr lang="en-US" dirty="0" smtClean="0"/>
              <a:t>Q – 1,3,4,5,6,7,8,9,13,16,19,21,22</a:t>
            </a:r>
          </a:p>
          <a:p>
            <a:r>
              <a:rPr lang="en-US" dirty="0" smtClean="0"/>
              <a:t>Topic # 10.2</a:t>
            </a:r>
          </a:p>
          <a:p>
            <a:r>
              <a:rPr lang="en-US" dirty="0" smtClean="0"/>
              <a:t>Q -1,2,3,4,7,8,9,10,21,22,23,24,27</a:t>
            </a:r>
          </a:p>
          <a:p>
            <a:r>
              <a:rPr lang="en-US" dirty="0"/>
              <a:t>Topic # </a:t>
            </a:r>
            <a:r>
              <a:rPr lang="en-US" dirty="0" smtClean="0"/>
              <a:t>10.3</a:t>
            </a:r>
            <a:endParaRPr lang="en-US" dirty="0"/>
          </a:p>
          <a:p>
            <a:r>
              <a:rPr lang="en-US" dirty="0"/>
              <a:t>Q – </a:t>
            </a:r>
            <a:r>
              <a:rPr lang="en-US" dirty="0" smtClean="0"/>
              <a:t>1,2,3,4,5,6,7,8,10,11,12,13,14,15,16,17,18,19,20,21,</a:t>
            </a:r>
          </a:p>
          <a:p>
            <a:pPr marL="0" indent="0">
              <a:buNone/>
            </a:pPr>
            <a:r>
              <a:rPr lang="en-US" dirty="0" smtClean="0"/>
              <a:t>	22,23,24,26,27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53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17445</TotalTime>
  <Words>960</Words>
  <Application>Microsoft Office PowerPoint</Application>
  <PresentationFormat>On-screen Show (4:3)</PresentationFormat>
  <Paragraphs>138</Paragraphs>
  <Slides>117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117</vt:i4>
      </vt:variant>
    </vt:vector>
  </HeadingPairs>
  <TitlesOfParts>
    <vt:vector size="123" baseType="lpstr">
      <vt:lpstr>Arial</vt:lpstr>
      <vt:lpstr>Calibri</vt:lpstr>
      <vt:lpstr>Cambria Math</vt:lpstr>
      <vt:lpstr>Symbol</vt:lpstr>
      <vt:lpstr>Clarity</vt:lpstr>
      <vt:lpstr>Equation</vt:lpstr>
      <vt:lpstr>                              Discrete Structures  (Discrete Mathematics)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Graphs</vt:lpstr>
      <vt:lpstr>The First Graph Theory</vt:lpstr>
      <vt:lpstr>The Origin of Graph Theory</vt:lpstr>
      <vt:lpstr>Definition - Graphs</vt:lpstr>
      <vt:lpstr>Simple Graphs</vt:lpstr>
      <vt:lpstr>Example</vt:lpstr>
      <vt:lpstr>Multigraph</vt:lpstr>
      <vt:lpstr>Pseudographs</vt:lpstr>
      <vt:lpstr>Example</vt:lpstr>
      <vt:lpstr>Directed Graphs</vt:lpstr>
      <vt:lpstr>Example</vt:lpstr>
      <vt:lpstr>Directed Multigraphs</vt:lpstr>
      <vt:lpstr>Example</vt:lpstr>
      <vt:lpstr>Types of Graphs: Summary</vt:lpstr>
      <vt:lpstr>Graph Models: Acquaintanceship Graph</vt:lpstr>
      <vt:lpstr>Example</vt:lpstr>
      <vt:lpstr>An Influence Graph</vt:lpstr>
      <vt:lpstr>Example</vt:lpstr>
      <vt:lpstr>Round Robin Tournaments</vt:lpstr>
      <vt:lpstr>Example</vt:lpstr>
      <vt:lpstr>Intersection Graph</vt:lpstr>
      <vt:lpstr>Graph Terminologies</vt:lpstr>
      <vt:lpstr>Degree of a Vertex</vt:lpstr>
      <vt:lpstr>Example</vt:lpstr>
      <vt:lpstr>Handshaking Theorem</vt:lpstr>
      <vt:lpstr>Handshaking Theorem</vt:lpstr>
      <vt:lpstr>Directed Degree</vt:lpstr>
      <vt:lpstr>Directed Degree</vt:lpstr>
      <vt:lpstr>Example</vt:lpstr>
      <vt:lpstr>Theorem</vt:lpstr>
      <vt:lpstr>Chapter Exercise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CSC102 - Discrete Structures  (Discrete Mathematics) Fall 2012</dc:title>
  <dc:creator>AH Sheikh</dc:creator>
  <cp:lastModifiedBy>Microsoft account</cp:lastModifiedBy>
  <cp:revision>330</cp:revision>
  <cp:lastPrinted>2012-12-18T16:41:46Z</cp:lastPrinted>
  <dcterms:created xsi:type="dcterms:W3CDTF">2012-09-10T10:58:42Z</dcterms:created>
  <dcterms:modified xsi:type="dcterms:W3CDTF">2026-09-08T10:55:23Z</dcterms:modified>
</cp:coreProperties>
</file>